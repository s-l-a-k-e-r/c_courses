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4" r:id="rId2"/>
    <p:sldId id="265" r:id="rId3"/>
    <p:sldId id="262" r:id="rId4"/>
    <p:sldId id="259" r:id="rId5"/>
    <p:sldId id="273" r:id="rId6"/>
    <p:sldId id="274" r:id="rId7"/>
    <p:sldId id="275" r:id="rId8"/>
    <p:sldId id="276" r:id="rId9"/>
    <p:sldId id="277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C0B6"/>
    <a:srgbClr val="075476"/>
    <a:srgbClr val="D26900"/>
    <a:srgbClr val="450476"/>
    <a:srgbClr val="7155FF"/>
    <a:srgbClr val="7256FF"/>
    <a:srgbClr val="FF8100"/>
    <a:srgbClr val="FF314B"/>
    <a:srgbClr val="0099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8" autoAdjust="0"/>
    <p:restoredTop sz="94688" autoAdjust="0"/>
  </p:normalViewPr>
  <p:slideViewPr>
    <p:cSldViewPr snapToGrid="0">
      <p:cViewPr varScale="1">
        <p:scale>
          <a:sx n="76" d="100"/>
          <a:sy n="76" d="100"/>
        </p:scale>
        <p:origin x="126" y="174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3C5B7C-0E9A-13CA-62B3-71918C61B4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EECB5F-924E-85D9-DEA5-A24494F5CC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2D3CB-D182-4CF6-A504-C780E9CE3FC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8C4CF-6D20-6DE0-DD8B-09CB8343A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3F382-AA05-D151-C4F0-EC15EB2593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98067-CEA7-4C5E-A5FE-B0AE8BBBD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609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25D68-25E7-49A8-9FA8-EA5473622C8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18B58-6694-4F19-90F2-8B0A0390E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82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18B58-6694-4F19-90F2-8B0A0390E3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27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18B58-6694-4F19-90F2-8B0A0390E3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18B58-6694-4F19-90F2-8B0A0390E3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5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18B58-6694-4F19-90F2-8B0A0390E3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54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21E06-2276-0461-E3CB-17226596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3DC80-E452-CC7A-69E4-DC566AA9D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3A205-6C50-F2C8-006E-385ABDE1E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B8955-8CE1-92D3-4D81-4FE3E03E0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18B58-6694-4F19-90F2-8B0A0390E3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54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7654E-8E01-6B1B-5A02-3EAF98949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41699-841E-EAFF-5B49-1FD4AD921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91517-D7C8-D202-942C-659CCD90E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DBDF3-EEBF-5AA7-08ED-FF21F7BFD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18B58-6694-4F19-90F2-8B0A0390E3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88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01A31-981C-7F2B-3880-1F857D901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ECE80-8E76-2712-1567-E306E7BEF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C25A2-B68D-F11B-E8BF-CA16C4F1E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9DDF2-7472-DA4E-6743-4C26294A2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18B58-6694-4F19-90F2-8B0A0390E3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45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33788-B99A-4838-F3D4-E26730B73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CCE6D-457E-CCDA-11B4-DC36E416A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797A2-EA82-F666-4D72-CA988FF5F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BD1CC-3D28-1085-A05B-5A2E85F26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18B58-6694-4F19-90F2-8B0A0390E3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23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B7408-94D8-7BDB-43FD-BE44AD7BC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86485-991F-F65E-F483-D12AF7632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7FE42-7FF9-D23D-1674-5026863CE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1B835-5B4A-C24F-82BD-31F7429AE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18B58-6694-4F19-90F2-8B0A0390E3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2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BDEC7-BF4A-07A7-48AB-24960D9DD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69DF1-C213-C528-61E8-4B7809136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88ECA-4017-69FE-9A4C-4E96D91E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65E6E-E8B0-579B-6FFF-D69DA8FE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70E82-FB20-AACA-D19A-B5437C53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26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96872-78D4-C504-8B20-931028623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BF2A-C99A-CF27-AB45-24AF7814D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D8974-C856-0DCF-FB92-2C6DC40F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93D05-F964-45BC-3E40-FB610C555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48195-D61B-E52B-3631-DC84D8BE6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46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E282-6C4C-9AD4-120B-ACE405F17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603A4-FFF9-29CB-5518-84B9BCE79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96301-D62D-1FD8-87E8-84F27BAC1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76519-C6D8-9205-536B-B69E69DD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B6ABE-F59C-D4D3-952D-B8A7D10F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13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276B-2176-6EF7-EE48-B1EB0AC73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0A2C4-4B05-E767-D30B-7E15B25F7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1F460-DD2C-0070-8278-5EEC2CB1F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65EB7-F53B-E4C7-2129-80058060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09AA6-DCB8-3B91-CAD4-3635F0064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E8CEB-EB99-B82A-5BB4-2EA3819F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7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731F-A8FB-A214-86D0-4554335B7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601B2-BC38-38DD-727A-6CDD86FB9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C1581-401C-1DD6-5E30-D154F85AE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899EC9-29B6-831B-8ADF-C729F2FFA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F406E-A3C9-F137-3E52-2C5611518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AB0A-3B64-887D-2480-473FCE13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FCCF5-A4E0-FE5B-6DB7-C9A801D8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C7F194-943D-F10E-74D8-B851487B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82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E4FE-84DA-8E25-8CD8-04771E6E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A7C06D-48C2-3BDF-BAB6-00021D4F9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7359F-508C-9C4B-7B36-9AE67A9D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4F422-76A7-DA0E-8714-DB6BD9D3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50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CC5FE-19D9-A9EF-661A-1C726EEE5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74B3C-548D-DD7B-82B7-EAE5FA16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F7737-9264-8FA4-E9A2-0E409660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3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1EB32-2E9B-B071-F6E7-0E77B9781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AA8FB-4023-29D7-FF03-B5FFF012E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38390-4F9D-1B30-CBD5-61208BB6F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B7119-957D-4409-E78E-F5070B8E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14B32-8536-6317-D357-ECE806FA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DDE99-A677-49AD-5D2C-99720B9BF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5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EF71-FD4C-4B59-15CF-B0E6F8AAA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344C6F-03F9-4F6C-97BC-2B0D7628F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D1546-E98B-E0AA-EC04-04AF7553B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1098F-F7A2-BBA8-5A61-3756DCD8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45ACD-3400-FE98-6CA2-4953AF201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1257D-1379-FA88-D11E-103EB865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6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B6545-5938-3652-E07C-C9AA4BD79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7A663-B0E4-3624-7CA3-833992A08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F3513-F9D7-D039-743E-4F767BEEE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53F2C-742F-0639-3503-0AA1E305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9A2CA-B4CB-199C-198C-A176DBA77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52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93DB1A-FE14-CECE-6DDA-A76903A46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4E1D9D-644C-95FB-329E-ECD70B219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49034-F9D8-C8C7-AC66-C7C032A20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6F59B-A744-5A8B-39A9-B6D5DC181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029BF-61C2-332F-BC18-3409B2E28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9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C31E7-F90C-6C3D-ABA8-90C5AD280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C33D9-9594-7721-5589-930B37433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F0208-CDE4-7FC3-8884-CCBA6A17D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B87DE-4FC3-4E2C-8EFC-D085EE36299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16F40-ECBB-CC30-F88D-9E5D7FE9F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C9824-2E56-4452-0CF5-6686BB499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61D09-65E8-4069-BB64-402CE05EF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67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vandamme@omnesintervenant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607E1-7805-BCFE-492A-C1222775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A76859-2696-1986-77C1-E46BACB425DD}"/>
              </a:ext>
            </a:extLst>
          </p:cNvPr>
          <p:cNvSpPr>
            <a:spLocks/>
          </p:cNvSpPr>
          <p:nvPr/>
        </p:nvSpPr>
        <p:spPr>
          <a:xfrm>
            <a:off x="11742420" y="-1"/>
            <a:ext cx="44958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7563C78A-FCF0-1D52-D9C7-87DB1E53F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2421" y="6406367"/>
            <a:ext cx="44958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</a:t>
            </a:r>
            <a:fld id="{28E61D09-65E8-4069-BB64-402CE05EFCD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08D222-2776-D929-1980-A587A7302EDB}"/>
              </a:ext>
            </a:extLst>
          </p:cNvPr>
          <p:cNvSpPr/>
          <p:nvPr/>
        </p:nvSpPr>
        <p:spPr>
          <a:xfrm>
            <a:off x="1" y="-2"/>
            <a:ext cx="11742416" cy="6858001"/>
          </a:xfrm>
          <a:prstGeom prst="rect">
            <a:avLst/>
          </a:prstGeom>
          <a:gradFill flip="none" rotWithShape="1">
            <a:gsLst>
              <a:gs pos="0">
                <a:srgbClr val="045275"/>
              </a:gs>
              <a:gs pos="100000">
                <a:srgbClr val="088F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C1B390-5E30-9530-EAAE-D2AA4ADB74DC}"/>
              </a:ext>
            </a:extLst>
          </p:cNvPr>
          <p:cNvSpPr txBox="1"/>
          <p:nvPr/>
        </p:nvSpPr>
        <p:spPr>
          <a:xfrm>
            <a:off x="7783251" y="3672364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Teacher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61A4E-572D-3870-5235-CA7C1A8334EA}"/>
              </a:ext>
            </a:extLst>
          </p:cNvPr>
          <p:cNvSpPr txBox="1"/>
          <p:nvPr/>
        </p:nvSpPr>
        <p:spPr>
          <a:xfrm>
            <a:off x="7783251" y="4244756"/>
            <a:ext cx="2829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Simon Céleste VANDAMME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5A5398-0B46-8955-2DB1-476390648119}"/>
              </a:ext>
            </a:extLst>
          </p:cNvPr>
          <p:cNvSpPr txBox="1"/>
          <p:nvPr/>
        </p:nvSpPr>
        <p:spPr>
          <a:xfrm>
            <a:off x="7783251" y="4583310"/>
            <a:ext cx="3791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svandamme@omnesintervenant.com</a:t>
            </a:r>
            <a:endParaRPr lang="en-US" sz="1600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1100A0-E40C-97FE-7145-AB540D475ADD}"/>
              </a:ext>
            </a:extLst>
          </p:cNvPr>
          <p:cNvCxnSpPr/>
          <p:nvPr/>
        </p:nvCxnSpPr>
        <p:spPr>
          <a:xfrm>
            <a:off x="7874691" y="4137660"/>
            <a:ext cx="21183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4785DA-E2E6-EB02-82DC-2CB0AFFCA5D5}"/>
              </a:ext>
            </a:extLst>
          </p:cNvPr>
          <p:cNvSpPr txBox="1"/>
          <p:nvPr/>
        </p:nvSpPr>
        <p:spPr>
          <a:xfrm>
            <a:off x="8429583" y="5924911"/>
            <a:ext cx="2608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ECE-Paris</a:t>
            </a:r>
          </a:p>
          <a:p>
            <a:r>
              <a:rPr lang="en-US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Engineering School</a:t>
            </a:r>
          </a:p>
        </p:txBody>
      </p:sp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F120EEB-FF7C-CA23-F238-7BD41F8C8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251" y="5946352"/>
            <a:ext cx="646332" cy="6463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8A2EA2-2D26-5D12-E321-015CD49BC324}"/>
              </a:ext>
            </a:extLst>
          </p:cNvPr>
          <p:cNvSpPr txBox="1"/>
          <p:nvPr/>
        </p:nvSpPr>
        <p:spPr>
          <a:xfrm>
            <a:off x="7783251" y="5322214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School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8EEC002-0C66-7149-BB68-0992970A62D6}"/>
              </a:ext>
            </a:extLst>
          </p:cNvPr>
          <p:cNvCxnSpPr/>
          <p:nvPr/>
        </p:nvCxnSpPr>
        <p:spPr>
          <a:xfrm>
            <a:off x="7874691" y="5787510"/>
            <a:ext cx="21183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2C7DF37-59E8-4C7D-384B-B97E0B072170}"/>
              </a:ext>
            </a:extLst>
          </p:cNvPr>
          <p:cNvSpPr txBox="1"/>
          <p:nvPr/>
        </p:nvSpPr>
        <p:spPr>
          <a:xfrm>
            <a:off x="139703" y="1639685"/>
            <a:ext cx="5910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---------------&lt; </a:t>
            </a:r>
            <a:r>
              <a:rPr lang="en-US" sz="20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</a:t>
            </a:r>
            <a:r>
              <a:rPr lang="en-US" sz="20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&gt;---------------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0F0D6F-91B7-14DF-ED2E-25A0C7BF6647}"/>
              </a:ext>
            </a:extLst>
          </p:cNvPr>
          <p:cNvSpPr txBox="1"/>
          <p:nvPr/>
        </p:nvSpPr>
        <p:spPr>
          <a:xfrm>
            <a:off x="139703" y="737786"/>
            <a:ext cx="5910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Pointers</a:t>
            </a:r>
            <a:endParaRPr lang="en-US" sz="3600" dirty="0">
              <a:solidFill>
                <a:schemeClr val="bg1"/>
              </a:solidFill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28283BAA-38CF-0450-B9F2-DCCCFFFBA7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234682"/>
              </p:ext>
            </p:extLst>
          </p:nvPr>
        </p:nvGraphicFramePr>
        <p:xfrm>
          <a:off x="1459143" y="4007526"/>
          <a:ext cx="3271768" cy="2681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413501" imgH="6896780" progId="">
                  <p:embed/>
                </p:oleObj>
              </mc:Choice>
              <mc:Fallback>
                <p:oleObj r:id="rId5" imgW="8413501" imgH="689678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59143" y="4007526"/>
                        <a:ext cx="3271768" cy="26816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30712A74-D30D-EA35-E7A5-AA5525C97471}"/>
              </a:ext>
            </a:extLst>
          </p:cNvPr>
          <p:cNvSpPr txBox="1"/>
          <p:nvPr/>
        </p:nvSpPr>
        <p:spPr>
          <a:xfrm>
            <a:off x="449583" y="2000073"/>
            <a:ext cx="5539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Learn how pointers work, how to manipulate memory addresses, and why they’re essential for dynamic memory, arrays, and efficient data handling.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6CC47-471D-DF9C-8EDB-8725AF30C03A}"/>
              </a:ext>
            </a:extLst>
          </p:cNvPr>
          <p:cNvSpPr txBox="1"/>
          <p:nvPr/>
        </p:nvSpPr>
        <p:spPr>
          <a:xfrm rot="5400000">
            <a:off x="10158383" y="1673105"/>
            <a:ext cx="3617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</a:t>
            </a:r>
            <a:r>
              <a:rPr lang="en-US" sz="12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| C-Programming (TPE-008)</a:t>
            </a:r>
          </a:p>
        </p:txBody>
      </p:sp>
    </p:spTree>
    <p:extLst>
      <p:ext uri="{BB962C8B-B14F-4D97-AF65-F5344CB8AC3E}">
        <p14:creationId xmlns:p14="http://schemas.microsoft.com/office/powerpoint/2010/main" val="1410465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5290-C94C-FF20-C76A-26B090818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B84C07-8DDB-04DF-FFC4-0445BC840CA5}"/>
              </a:ext>
            </a:extLst>
          </p:cNvPr>
          <p:cNvSpPr>
            <a:spLocks/>
          </p:cNvSpPr>
          <p:nvPr/>
        </p:nvSpPr>
        <p:spPr>
          <a:xfrm>
            <a:off x="11742420" y="-1"/>
            <a:ext cx="44958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D7056DAC-E654-D1B4-4457-23B50337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2421" y="6406367"/>
            <a:ext cx="44958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</a:t>
            </a:r>
            <a:fld id="{28E61D09-65E8-4069-BB64-402CE05EFCD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73AD7F-3145-3BA6-BBF9-F300CB7A6B01}"/>
              </a:ext>
            </a:extLst>
          </p:cNvPr>
          <p:cNvSpPr/>
          <p:nvPr/>
        </p:nvSpPr>
        <p:spPr>
          <a:xfrm>
            <a:off x="-96983" y="0"/>
            <a:ext cx="11839399" cy="6858001"/>
          </a:xfrm>
          <a:prstGeom prst="rect">
            <a:avLst/>
          </a:prstGeom>
          <a:gradFill flip="none" rotWithShape="1">
            <a:gsLst>
              <a:gs pos="0">
                <a:srgbClr val="217A79"/>
              </a:gs>
              <a:gs pos="100000">
                <a:srgbClr val="96D2A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2637B6-7610-BBCB-658F-B980D3DB0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9158" y="6432086"/>
            <a:ext cx="313685" cy="3136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4BE23A-5650-09A1-E55E-4079EF137B26}"/>
              </a:ext>
            </a:extLst>
          </p:cNvPr>
          <p:cNvSpPr txBox="1"/>
          <p:nvPr/>
        </p:nvSpPr>
        <p:spPr>
          <a:xfrm>
            <a:off x="128447" y="123506"/>
            <a:ext cx="40318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u="sng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Table of content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710D55-E992-1377-1B7B-F0ED9042B1AD}"/>
              </a:ext>
            </a:extLst>
          </p:cNvPr>
          <p:cNvSpPr txBox="1"/>
          <p:nvPr/>
        </p:nvSpPr>
        <p:spPr>
          <a:xfrm>
            <a:off x="-160020" y="10247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BD3DFC-8390-5B89-7D01-3E4674F767A3}"/>
              </a:ext>
            </a:extLst>
          </p:cNvPr>
          <p:cNvSpPr/>
          <p:nvPr/>
        </p:nvSpPr>
        <p:spPr>
          <a:xfrm>
            <a:off x="697574" y="2630778"/>
            <a:ext cx="10153306" cy="1150565"/>
          </a:xfrm>
          <a:prstGeom prst="rect">
            <a:avLst/>
          </a:prstGeom>
          <a:gradFill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1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3988FD-0C92-31CB-C8E7-FD422B6987A0}"/>
              </a:ext>
            </a:extLst>
          </p:cNvPr>
          <p:cNvSpPr txBox="1"/>
          <p:nvPr/>
        </p:nvSpPr>
        <p:spPr>
          <a:xfrm>
            <a:off x="137484" y="2281412"/>
            <a:ext cx="2674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void 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problematic</a:t>
            </a:r>
            <a:r>
              <a:rPr lang="en-US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 {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730306-9A09-6880-37FA-E675C07AA4FF}"/>
              </a:ext>
            </a:extLst>
          </p:cNvPr>
          <p:cNvSpPr txBox="1"/>
          <p:nvPr/>
        </p:nvSpPr>
        <p:spPr>
          <a:xfrm>
            <a:off x="759991" y="2937847"/>
            <a:ext cx="100284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“How do we Pointers in C? And why?”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B111A8-58F8-2DC9-1372-1D895E563FBD}"/>
              </a:ext>
            </a:extLst>
          </p:cNvPr>
          <p:cNvSpPr txBox="1"/>
          <p:nvPr/>
        </p:nvSpPr>
        <p:spPr>
          <a:xfrm>
            <a:off x="137483" y="3781343"/>
            <a:ext cx="390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CF768-0022-D462-EF43-A4C3D78D44DE}"/>
              </a:ext>
            </a:extLst>
          </p:cNvPr>
          <p:cNvSpPr txBox="1"/>
          <p:nvPr/>
        </p:nvSpPr>
        <p:spPr>
          <a:xfrm rot="5400000">
            <a:off x="10158383" y="1673105"/>
            <a:ext cx="3617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</a:t>
            </a:r>
            <a:r>
              <a:rPr lang="en-US" sz="12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| C-Programming (TPE-008)</a:t>
            </a:r>
          </a:p>
        </p:txBody>
      </p:sp>
    </p:spTree>
    <p:extLst>
      <p:ext uri="{BB962C8B-B14F-4D97-AF65-F5344CB8AC3E}">
        <p14:creationId xmlns:p14="http://schemas.microsoft.com/office/powerpoint/2010/main" val="157269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9F0DD-037E-3997-5005-A6BCD1ED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91D9C0-D116-F3E1-E653-6D33909EAB59}"/>
              </a:ext>
            </a:extLst>
          </p:cNvPr>
          <p:cNvSpPr>
            <a:spLocks/>
          </p:cNvSpPr>
          <p:nvPr/>
        </p:nvSpPr>
        <p:spPr>
          <a:xfrm>
            <a:off x="11742420" y="-1"/>
            <a:ext cx="44958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997B1C97-2481-267D-F7D7-80A5627E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2421" y="6406367"/>
            <a:ext cx="449580" cy="365125"/>
          </a:xfrm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</a:t>
            </a:r>
            <a:fld id="{28E61D09-65E8-4069-BB64-402CE05EFCD6}" type="slidenum">
              <a:rPr lang="en-US" sz="1600" smtClean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pPr algn="ctr"/>
              <a:t>3</a:t>
            </a:fld>
            <a:endParaRPr lang="en-US" sz="1600" dirty="0">
              <a:solidFill>
                <a:schemeClr val="bg1"/>
              </a:solidFill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ADE474-CE76-F7F6-C105-3C4EF3508588}"/>
              </a:ext>
            </a:extLst>
          </p:cNvPr>
          <p:cNvSpPr/>
          <p:nvPr/>
        </p:nvSpPr>
        <p:spPr>
          <a:xfrm>
            <a:off x="1" y="-2"/>
            <a:ext cx="11742416" cy="6858001"/>
          </a:xfrm>
          <a:prstGeom prst="rect">
            <a:avLst/>
          </a:prstGeom>
          <a:gradFill flip="none" rotWithShape="1">
            <a:gsLst>
              <a:gs pos="0">
                <a:srgbClr val="082027"/>
              </a:gs>
              <a:gs pos="100000">
                <a:srgbClr val="66003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BA1719-2326-D5A0-A145-16419926D8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9158" y="6432086"/>
            <a:ext cx="313685" cy="313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DF1432-19BC-232A-0288-4C95F1F92AED}"/>
              </a:ext>
            </a:extLst>
          </p:cNvPr>
          <p:cNvSpPr txBox="1"/>
          <p:nvPr/>
        </p:nvSpPr>
        <p:spPr>
          <a:xfrm>
            <a:off x="358143" y="457200"/>
            <a:ext cx="61366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u="sng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Chapter </a:t>
            </a:r>
            <a:r>
              <a:rPr lang="en-US" sz="7200" u="sng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3B8666-16D6-1C4D-9510-2CF4865B5F68}"/>
              </a:ext>
            </a:extLst>
          </p:cNvPr>
          <p:cNvSpPr txBox="1"/>
          <p:nvPr/>
        </p:nvSpPr>
        <p:spPr>
          <a:xfrm>
            <a:off x="358143" y="1657529"/>
            <a:ext cx="99181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Introduction to Pointers</a:t>
            </a:r>
            <a:endParaRPr lang="en-US" sz="54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0DB2C8-DE7D-F8EC-18BE-6E8ACA08F604}"/>
              </a:ext>
            </a:extLst>
          </p:cNvPr>
          <p:cNvSpPr txBox="1"/>
          <p:nvPr/>
        </p:nvSpPr>
        <p:spPr>
          <a:xfrm rot="5400000">
            <a:off x="10158383" y="1673105"/>
            <a:ext cx="3617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</a:t>
            </a:r>
            <a:r>
              <a:rPr lang="en-US" sz="12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| C-Programming (TPE-008)</a:t>
            </a:r>
          </a:p>
        </p:txBody>
      </p:sp>
    </p:spTree>
    <p:extLst>
      <p:ext uri="{BB962C8B-B14F-4D97-AF65-F5344CB8AC3E}">
        <p14:creationId xmlns:p14="http://schemas.microsoft.com/office/powerpoint/2010/main" val="63810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F038E-DC1A-83D4-D1C1-F2280DDD8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CB4801A-895F-B1F9-B352-ADE4003B1BCD}"/>
              </a:ext>
            </a:extLst>
          </p:cNvPr>
          <p:cNvSpPr>
            <a:spLocks/>
          </p:cNvSpPr>
          <p:nvPr/>
        </p:nvSpPr>
        <p:spPr>
          <a:xfrm>
            <a:off x="11742420" y="-1"/>
            <a:ext cx="44958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C0A9CA-B1EC-B888-E2FC-E5C96CA3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2421" y="6406367"/>
            <a:ext cx="449580" cy="365125"/>
          </a:xfrm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</a:t>
            </a:r>
            <a:fld id="{28E61D09-65E8-4069-BB64-402CE05EFCD6}" type="slidenum">
              <a:rPr lang="en-US" sz="1600" smtClean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pPr algn="ctr"/>
              <a:t>4</a:t>
            </a:fld>
            <a:endParaRPr lang="en-US" sz="1600" dirty="0">
              <a:solidFill>
                <a:schemeClr val="bg1"/>
              </a:solidFill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623DE-93F9-FCF0-B001-9C5355D6CD71}"/>
              </a:ext>
            </a:extLst>
          </p:cNvPr>
          <p:cNvSpPr txBox="1"/>
          <p:nvPr/>
        </p:nvSpPr>
        <p:spPr>
          <a:xfrm>
            <a:off x="76836" y="6435941"/>
            <a:ext cx="18364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Codex_Project</a:t>
            </a:r>
            <a:b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sz="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2025</a:t>
            </a:r>
            <a:endParaRPr lang="en-US" sz="900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DA207AC-070B-F8F8-6F50-21A1BA82F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158" y="6432086"/>
            <a:ext cx="313685" cy="3136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D43285D-79FF-A6E6-671A-10A0F073FBDD}"/>
              </a:ext>
            </a:extLst>
          </p:cNvPr>
          <p:cNvSpPr/>
          <p:nvPr/>
        </p:nvSpPr>
        <p:spPr>
          <a:xfrm>
            <a:off x="1" y="-2"/>
            <a:ext cx="11742416" cy="579121"/>
          </a:xfrm>
          <a:prstGeom prst="rect">
            <a:avLst/>
          </a:prstGeom>
          <a:gradFill flip="none" rotWithShape="1">
            <a:gsLst>
              <a:gs pos="0">
                <a:srgbClr val="012024"/>
              </a:gs>
              <a:gs pos="100000">
                <a:srgbClr val="90016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AFB2F6C-B27A-1403-E4FE-40950B44BD77}"/>
              </a:ext>
            </a:extLst>
          </p:cNvPr>
          <p:cNvCxnSpPr>
            <a:cxnSpLocks/>
          </p:cNvCxnSpPr>
          <p:nvPr/>
        </p:nvCxnSpPr>
        <p:spPr>
          <a:xfrm>
            <a:off x="0" y="579119"/>
            <a:ext cx="117424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211F7E5-9B2C-DC01-239F-2519CA8088DF}"/>
              </a:ext>
            </a:extLst>
          </p:cNvPr>
          <p:cNvSpPr txBox="1"/>
          <p:nvPr/>
        </p:nvSpPr>
        <p:spPr>
          <a:xfrm>
            <a:off x="7833360" y="104892"/>
            <a:ext cx="382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01 # Intro to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9FFBB-B946-B0AC-30E0-021FC7DC90C9}"/>
              </a:ext>
            </a:extLst>
          </p:cNvPr>
          <p:cNvSpPr txBox="1"/>
          <p:nvPr/>
        </p:nvSpPr>
        <p:spPr>
          <a:xfrm>
            <a:off x="86291" y="29298"/>
            <a:ext cx="7162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What is a pointer?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463C7-2F25-CC49-0411-AC80EE45FD4A}"/>
              </a:ext>
            </a:extLst>
          </p:cNvPr>
          <p:cNvSpPr txBox="1"/>
          <p:nvPr/>
        </p:nvSpPr>
        <p:spPr>
          <a:xfrm rot="5400000">
            <a:off x="10158383" y="1673105"/>
            <a:ext cx="3617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</a:t>
            </a:r>
            <a:r>
              <a:rPr lang="en-US" sz="12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| C-Programming (TPE-008)</a:t>
            </a:r>
          </a:p>
        </p:txBody>
      </p:sp>
      <p:pic>
        <p:nvPicPr>
          <p:cNvPr id="1026" name="Picture 2" descr="Pointers vs References: A Beginner's Guide with Real-Life Analogies | by  Sakhadib | Medium">
            <a:extLst>
              <a:ext uri="{FF2B5EF4-FFF2-40B4-BE49-F238E27FC236}">
                <a16:creationId xmlns:a16="http://schemas.microsoft.com/office/drawing/2014/main" id="{7506ACCC-23D8-8B8C-620F-7164CC660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333" y="1640296"/>
            <a:ext cx="5413917" cy="360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>
            <a:extLst>
              <a:ext uri="{FF2B5EF4-FFF2-40B4-BE49-F238E27FC236}">
                <a16:creationId xmlns:a16="http://schemas.microsoft.com/office/drawing/2014/main" id="{4A05FF4C-1799-9FED-D590-60E66158F7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394F96-FA03-5227-E62C-621039EF9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57" y="1608426"/>
            <a:ext cx="6093113" cy="368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74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28297-2BAF-D25E-5660-8448961B3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99A6338-BB88-BFE4-47CA-7A01371B3B0B}"/>
              </a:ext>
            </a:extLst>
          </p:cNvPr>
          <p:cNvSpPr>
            <a:spLocks/>
          </p:cNvSpPr>
          <p:nvPr/>
        </p:nvSpPr>
        <p:spPr>
          <a:xfrm>
            <a:off x="11742420" y="-1"/>
            <a:ext cx="44958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4629145-C1D8-C5AE-0144-83657CD8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2421" y="6406367"/>
            <a:ext cx="449580" cy="365125"/>
          </a:xfrm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</a:t>
            </a:r>
            <a:fld id="{28E61D09-65E8-4069-BB64-402CE05EFCD6}" type="slidenum">
              <a:rPr lang="en-US" sz="1600" smtClean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pPr algn="ctr"/>
              <a:t>5</a:t>
            </a:fld>
            <a:endParaRPr lang="en-US" sz="1600" dirty="0">
              <a:solidFill>
                <a:schemeClr val="bg1"/>
              </a:solidFill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BA90F-873B-E483-0C36-FFFDBBF8B913}"/>
              </a:ext>
            </a:extLst>
          </p:cNvPr>
          <p:cNvSpPr txBox="1"/>
          <p:nvPr/>
        </p:nvSpPr>
        <p:spPr>
          <a:xfrm>
            <a:off x="76836" y="6435941"/>
            <a:ext cx="18364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Codex_Project</a:t>
            </a:r>
            <a:b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sz="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2025</a:t>
            </a:r>
            <a:endParaRPr lang="en-US" sz="900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E53520F-BE94-B756-EC02-CCCC037F2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158" y="6432086"/>
            <a:ext cx="313685" cy="3136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7F25024B-ADA8-09B9-5461-2899920618EC}"/>
              </a:ext>
            </a:extLst>
          </p:cNvPr>
          <p:cNvSpPr/>
          <p:nvPr/>
        </p:nvSpPr>
        <p:spPr>
          <a:xfrm>
            <a:off x="1" y="-2"/>
            <a:ext cx="11742416" cy="579121"/>
          </a:xfrm>
          <a:prstGeom prst="rect">
            <a:avLst/>
          </a:prstGeom>
          <a:gradFill flip="none" rotWithShape="1">
            <a:gsLst>
              <a:gs pos="0">
                <a:srgbClr val="012024"/>
              </a:gs>
              <a:gs pos="100000">
                <a:srgbClr val="90016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5B72DBB-22EB-0B3C-D7A5-686C2DD17CD1}"/>
              </a:ext>
            </a:extLst>
          </p:cNvPr>
          <p:cNvCxnSpPr>
            <a:cxnSpLocks/>
          </p:cNvCxnSpPr>
          <p:nvPr/>
        </p:nvCxnSpPr>
        <p:spPr>
          <a:xfrm>
            <a:off x="0" y="579119"/>
            <a:ext cx="117424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D16ABC6-52E7-253E-5C48-4DC85ADEF181}"/>
              </a:ext>
            </a:extLst>
          </p:cNvPr>
          <p:cNvSpPr txBox="1"/>
          <p:nvPr/>
        </p:nvSpPr>
        <p:spPr>
          <a:xfrm>
            <a:off x="7833360" y="104892"/>
            <a:ext cx="382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01 # Intro to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1AB24-65D1-A4FE-56B0-E741A132FF4A}"/>
              </a:ext>
            </a:extLst>
          </p:cNvPr>
          <p:cNvSpPr txBox="1"/>
          <p:nvPr/>
        </p:nvSpPr>
        <p:spPr>
          <a:xfrm>
            <a:off x="86291" y="29298"/>
            <a:ext cx="7162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How to create pointers?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47C9A-AF3F-A522-5E84-1B997316B4D1}"/>
              </a:ext>
            </a:extLst>
          </p:cNvPr>
          <p:cNvSpPr txBox="1"/>
          <p:nvPr/>
        </p:nvSpPr>
        <p:spPr>
          <a:xfrm rot="5400000">
            <a:off x="10158383" y="1673105"/>
            <a:ext cx="3617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</a:t>
            </a:r>
            <a:r>
              <a:rPr lang="en-US" sz="12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| C-Programming (TPE-008)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D66FE872-1195-D606-3ECA-C80BB1D812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3FE44-0AF5-CD9F-919E-E1FC79018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117" y="2475518"/>
            <a:ext cx="5192224" cy="1824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3FFD16-15FB-6E05-B5D6-1BEECB5FD15C}"/>
              </a:ext>
            </a:extLst>
          </p:cNvPr>
          <p:cNvSpPr/>
          <p:nvPr/>
        </p:nvSpPr>
        <p:spPr>
          <a:xfrm>
            <a:off x="6994889" y="5144347"/>
            <a:ext cx="2171700" cy="4435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Dereference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B28C32-EAF2-F6B7-5E8D-9EA46BB82362}"/>
              </a:ext>
            </a:extLst>
          </p:cNvPr>
          <p:cNvCxnSpPr/>
          <p:nvPr/>
        </p:nvCxnSpPr>
        <p:spPr>
          <a:xfrm>
            <a:off x="6829624" y="4300176"/>
            <a:ext cx="332905" cy="678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3C3CB36-1C73-27FB-89BC-E651E7C750DA}"/>
              </a:ext>
            </a:extLst>
          </p:cNvPr>
          <p:cNvSpPr/>
          <p:nvPr/>
        </p:nvSpPr>
        <p:spPr>
          <a:xfrm>
            <a:off x="7914287" y="1845290"/>
            <a:ext cx="2171700" cy="4435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9769F9-BEB2-931A-A8FE-6305C924A733}"/>
              </a:ext>
            </a:extLst>
          </p:cNvPr>
          <p:cNvCxnSpPr>
            <a:cxnSpLocks/>
          </p:cNvCxnSpPr>
          <p:nvPr/>
        </p:nvCxnSpPr>
        <p:spPr>
          <a:xfrm flipV="1">
            <a:off x="6291200" y="2288857"/>
            <a:ext cx="1536794" cy="831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797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06EF-1704-FE38-F345-E04F96F5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2D211D3-7F1E-7DFE-A59A-B4617225A56B}"/>
              </a:ext>
            </a:extLst>
          </p:cNvPr>
          <p:cNvSpPr>
            <a:spLocks/>
          </p:cNvSpPr>
          <p:nvPr/>
        </p:nvSpPr>
        <p:spPr>
          <a:xfrm>
            <a:off x="11742420" y="-1"/>
            <a:ext cx="44958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177449E-11F3-BD9E-BCFA-18907FB0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2421" y="6406367"/>
            <a:ext cx="449580" cy="365125"/>
          </a:xfrm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</a:t>
            </a:r>
            <a:fld id="{28E61D09-65E8-4069-BB64-402CE05EFCD6}" type="slidenum">
              <a:rPr lang="en-US" sz="1600" smtClean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pPr algn="ctr"/>
              <a:t>6</a:t>
            </a:fld>
            <a:endParaRPr lang="en-US" sz="1600" dirty="0">
              <a:solidFill>
                <a:schemeClr val="bg1"/>
              </a:solidFill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855029-4B3A-BF15-3D8F-7CBD3968F702}"/>
              </a:ext>
            </a:extLst>
          </p:cNvPr>
          <p:cNvSpPr txBox="1"/>
          <p:nvPr/>
        </p:nvSpPr>
        <p:spPr>
          <a:xfrm>
            <a:off x="76836" y="6435941"/>
            <a:ext cx="18364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Codex_Project</a:t>
            </a:r>
            <a:b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sz="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2025</a:t>
            </a:r>
            <a:endParaRPr lang="en-US" sz="900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376BA3C-9F71-F673-DE6F-DE963ABE3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158" y="6432086"/>
            <a:ext cx="313685" cy="3136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9E0667A-826D-4F12-39A5-48DEB13A0D1A}"/>
              </a:ext>
            </a:extLst>
          </p:cNvPr>
          <p:cNvSpPr/>
          <p:nvPr/>
        </p:nvSpPr>
        <p:spPr>
          <a:xfrm>
            <a:off x="1" y="-2"/>
            <a:ext cx="11742416" cy="579121"/>
          </a:xfrm>
          <a:prstGeom prst="rect">
            <a:avLst/>
          </a:prstGeom>
          <a:gradFill flip="none" rotWithShape="1">
            <a:gsLst>
              <a:gs pos="0">
                <a:srgbClr val="012024"/>
              </a:gs>
              <a:gs pos="100000">
                <a:srgbClr val="90016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0D2A075-9CB6-37FB-29E6-3805F97DBF98}"/>
              </a:ext>
            </a:extLst>
          </p:cNvPr>
          <p:cNvCxnSpPr>
            <a:cxnSpLocks/>
          </p:cNvCxnSpPr>
          <p:nvPr/>
        </p:nvCxnSpPr>
        <p:spPr>
          <a:xfrm>
            <a:off x="0" y="579119"/>
            <a:ext cx="117424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76A50C3-B78F-C4A9-16EA-CEE365C81CAB}"/>
              </a:ext>
            </a:extLst>
          </p:cNvPr>
          <p:cNvSpPr txBox="1"/>
          <p:nvPr/>
        </p:nvSpPr>
        <p:spPr>
          <a:xfrm>
            <a:off x="7833360" y="104892"/>
            <a:ext cx="382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01 # Intro to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EB872-B21C-A28A-7301-E4CC64E2D4DF}"/>
              </a:ext>
            </a:extLst>
          </p:cNvPr>
          <p:cNvSpPr txBox="1"/>
          <p:nvPr/>
        </p:nvSpPr>
        <p:spPr>
          <a:xfrm>
            <a:off x="86291" y="29298"/>
            <a:ext cx="7162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Declaring &amp; Using pointers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B0010B-8D2B-EACE-7567-35EB45FEB596}"/>
              </a:ext>
            </a:extLst>
          </p:cNvPr>
          <p:cNvSpPr txBox="1"/>
          <p:nvPr/>
        </p:nvSpPr>
        <p:spPr>
          <a:xfrm rot="5400000">
            <a:off x="10158383" y="1673105"/>
            <a:ext cx="3617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</a:t>
            </a:r>
            <a:r>
              <a:rPr lang="en-US" sz="12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| C-Programming (TPE-008)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F473BB-6105-8468-8985-AD6308BBC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45" y="1548617"/>
            <a:ext cx="5512113" cy="3947233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6364E85-06C2-C444-9C23-25C63AFFC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437" y="1548617"/>
            <a:ext cx="3430614" cy="485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19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114D-A4CA-A643-AC7C-7580F218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A808F45-EF90-3564-C29A-D21E50299055}"/>
              </a:ext>
            </a:extLst>
          </p:cNvPr>
          <p:cNvSpPr>
            <a:spLocks/>
          </p:cNvSpPr>
          <p:nvPr/>
        </p:nvSpPr>
        <p:spPr>
          <a:xfrm>
            <a:off x="11742420" y="-1"/>
            <a:ext cx="44958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1C8512-2E85-763A-B7CD-C7EE577E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2421" y="6406367"/>
            <a:ext cx="449580" cy="365125"/>
          </a:xfrm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</a:t>
            </a:r>
            <a:fld id="{28E61D09-65E8-4069-BB64-402CE05EFCD6}" type="slidenum">
              <a:rPr lang="en-US" sz="1600" smtClean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pPr algn="ctr"/>
              <a:t>7</a:t>
            </a:fld>
            <a:endParaRPr lang="en-US" sz="1600" dirty="0">
              <a:solidFill>
                <a:schemeClr val="bg1"/>
              </a:solidFill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CB5B37-4F51-CF1F-A1F2-CF4EF23D5C9C}"/>
              </a:ext>
            </a:extLst>
          </p:cNvPr>
          <p:cNvSpPr txBox="1"/>
          <p:nvPr/>
        </p:nvSpPr>
        <p:spPr>
          <a:xfrm>
            <a:off x="76836" y="6435941"/>
            <a:ext cx="18364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Codex_Project</a:t>
            </a:r>
            <a:b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sz="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2025</a:t>
            </a:r>
            <a:endParaRPr lang="en-US" sz="900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86D0C44-FD83-91F9-DF3D-875CFCF88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158" y="6432086"/>
            <a:ext cx="313685" cy="3136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994AB504-5986-ED0C-8CCD-4B6E1FF9115F}"/>
              </a:ext>
            </a:extLst>
          </p:cNvPr>
          <p:cNvSpPr/>
          <p:nvPr/>
        </p:nvSpPr>
        <p:spPr>
          <a:xfrm>
            <a:off x="1" y="-2"/>
            <a:ext cx="11742416" cy="579121"/>
          </a:xfrm>
          <a:prstGeom prst="rect">
            <a:avLst/>
          </a:prstGeom>
          <a:gradFill flip="none" rotWithShape="1">
            <a:gsLst>
              <a:gs pos="0">
                <a:srgbClr val="012024"/>
              </a:gs>
              <a:gs pos="100000">
                <a:srgbClr val="90016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B40D142-CD54-038D-C7A4-5B485A5454DF}"/>
              </a:ext>
            </a:extLst>
          </p:cNvPr>
          <p:cNvCxnSpPr>
            <a:cxnSpLocks/>
          </p:cNvCxnSpPr>
          <p:nvPr/>
        </p:nvCxnSpPr>
        <p:spPr>
          <a:xfrm>
            <a:off x="0" y="579119"/>
            <a:ext cx="117424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2EFCFE1-98FA-68CB-4A81-CE47876839D4}"/>
              </a:ext>
            </a:extLst>
          </p:cNvPr>
          <p:cNvSpPr txBox="1"/>
          <p:nvPr/>
        </p:nvSpPr>
        <p:spPr>
          <a:xfrm>
            <a:off x="7833360" y="104892"/>
            <a:ext cx="382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01 # Intro to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28D3F-8E8A-A183-915C-970C30778A50}"/>
              </a:ext>
            </a:extLst>
          </p:cNvPr>
          <p:cNvSpPr txBox="1"/>
          <p:nvPr/>
        </p:nvSpPr>
        <p:spPr>
          <a:xfrm>
            <a:off x="86291" y="29298"/>
            <a:ext cx="7162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 in functions??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C42725-679F-A03C-E7AF-E49978A9DF79}"/>
              </a:ext>
            </a:extLst>
          </p:cNvPr>
          <p:cNvSpPr txBox="1"/>
          <p:nvPr/>
        </p:nvSpPr>
        <p:spPr>
          <a:xfrm rot="5400000">
            <a:off x="10158383" y="1673105"/>
            <a:ext cx="3617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</a:t>
            </a:r>
            <a:r>
              <a:rPr lang="en-US" sz="12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| C-Programming (TPE-008)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1050D-D8D4-52AF-5953-50FDDDAF8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28" y="3285111"/>
            <a:ext cx="4248743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06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EE64D-53D2-3928-AF48-3A0BA0A6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AC0D0B0-2E6B-9827-B437-80E5240F1FD9}"/>
              </a:ext>
            </a:extLst>
          </p:cNvPr>
          <p:cNvSpPr>
            <a:spLocks/>
          </p:cNvSpPr>
          <p:nvPr/>
        </p:nvSpPr>
        <p:spPr>
          <a:xfrm>
            <a:off x="11742420" y="-1"/>
            <a:ext cx="44958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02B5B99-959A-5235-8B3D-FCE513BF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2421" y="6406367"/>
            <a:ext cx="449580" cy="365125"/>
          </a:xfrm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</a:t>
            </a:r>
            <a:fld id="{28E61D09-65E8-4069-BB64-402CE05EFCD6}" type="slidenum">
              <a:rPr lang="en-US" sz="1600" smtClean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pPr algn="ctr"/>
              <a:t>8</a:t>
            </a:fld>
            <a:endParaRPr lang="en-US" sz="1600" dirty="0">
              <a:solidFill>
                <a:schemeClr val="bg1"/>
              </a:solidFill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EB7126-98DF-9D86-DDF8-432B4D45200C}"/>
              </a:ext>
            </a:extLst>
          </p:cNvPr>
          <p:cNvSpPr txBox="1"/>
          <p:nvPr/>
        </p:nvSpPr>
        <p:spPr>
          <a:xfrm>
            <a:off x="76836" y="6435941"/>
            <a:ext cx="18364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Codex_Project</a:t>
            </a:r>
            <a:b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sz="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2025</a:t>
            </a:r>
            <a:endParaRPr lang="en-US" sz="900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62602C4-23AE-DD2C-49AB-3CF69E584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158" y="6432086"/>
            <a:ext cx="313685" cy="3136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9BBDA6E1-7701-F32B-D4B9-CF3F2E8FF0A6}"/>
              </a:ext>
            </a:extLst>
          </p:cNvPr>
          <p:cNvSpPr/>
          <p:nvPr/>
        </p:nvSpPr>
        <p:spPr>
          <a:xfrm>
            <a:off x="1" y="-2"/>
            <a:ext cx="11742416" cy="579121"/>
          </a:xfrm>
          <a:prstGeom prst="rect">
            <a:avLst/>
          </a:prstGeom>
          <a:gradFill flip="none" rotWithShape="1">
            <a:gsLst>
              <a:gs pos="0">
                <a:srgbClr val="012024"/>
              </a:gs>
              <a:gs pos="100000">
                <a:srgbClr val="90016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31CC98-7916-815A-1B75-985C2C31958D}"/>
              </a:ext>
            </a:extLst>
          </p:cNvPr>
          <p:cNvCxnSpPr>
            <a:cxnSpLocks/>
          </p:cNvCxnSpPr>
          <p:nvPr/>
        </p:nvCxnSpPr>
        <p:spPr>
          <a:xfrm>
            <a:off x="0" y="579119"/>
            <a:ext cx="117424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2A43D54-30FD-D162-7E3E-3A1694CB23AE}"/>
              </a:ext>
            </a:extLst>
          </p:cNvPr>
          <p:cNvSpPr txBox="1"/>
          <p:nvPr/>
        </p:nvSpPr>
        <p:spPr>
          <a:xfrm>
            <a:off x="7833360" y="104892"/>
            <a:ext cx="382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01 # Intro to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73B53-7C74-A3CF-8331-E4CD6FF8298B}"/>
              </a:ext>
            </a:extLst>
          </p:cNvPr>
          <p:cNvSpPr txBox="1"/>
          <p:nvPr/>
        </p:nvSpPr>
        <p:spPr>
          <a:xfrm>
            <a:off x="86291" y="29298"/>
            <a:ext cx="7162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Pointers… are Arrays?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AA5E88-CC9A-9320-9CBD-BE5FB7E73B8E}"/>
              </a:ext>
            </a:extLst>
          </p:cNvPr>
          <p:cNvSpPr txBox="1"/>
          <p:nvPr/>
        </p:nvSpPr>
        <p:spPr>
          <a:xfrm rot="5400000">
            <a:off x="10158383" y="1673105"/>
            <a:ext cx="3617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</a:t>
            </a:r>
            <a:r>
              <a:rPr lang="en-US" sz="12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| C-Programming (TPE-008)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9B1F32-824C-7FC3-3D05-88D163F99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45" y="2435316"/>
            <a:ext cx="9744266" cy="237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14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2121-B12B-CBAD-117E-0B7D2D67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61A88D8-CEEB-B732-2B0C-6B805D72ED58}"/>
              </a:ext>
            </a:extLst>
          </p:cNvPr>
          <p:cNvSpPr>
            <a:spLocks/>
          </p:cNvSpPr>
          <p:nvPr/>
        </p:nvSpPr>
        <p:spPr>
          <a:xfrm>
            <a:off x="11742420" y="-1"/>
            <a:ext cx="449580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1F473A6-FD9C-31E0-8E32-01F97657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2421" y="6406367"/>
            <a:ext cx="449580" cy="365125"/>
          </a:xfrm>
        </p:spPr>
        <p:txBody>
          <a:bodyPr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</a:t>
            </a:r>
            <a:fld id="{28E61D09-65E8-4069-BB64-402CE05EFCD6}" type="slidenum">
              <a:rPr lang="en-US" sz="1600" smtClean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pPr algn="ctr"/>
              <a:t>9</a:t>
            </a:fld>
            <a:endParaRPr lang="en-US" sz="1600" dirty="0">
              <a:solidFill>
                <a:schemeClr val="bg1"/>
              </a:solidFill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B89107-28E6-2365-9C7C-033B8E78B942}"/>
              </a:ext>
            </a:extLst>
          </p:cNvPr>
          <p:cNvSpPr txBox="1"/>
          <p:nvPr/>
        </p:nvSpPr>
        <p:spPr>
          <a:xfrm>
            <a:off x="76836" y="6435941"/>
            <a:ext cx="18364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Codex_Project</a:t>
            </a:r>
            <a:br>
              <a:rPr lang="en-US" sz="9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</a:br>
            <a:r>
              <a:rPr lang="en-US" sz="600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2025</a:t>
            </a:r>
            <a:endParaRPr lang="en-US" sz="900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37E7A3A-4EDB-2480-4D1F-569CBE0E7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158" y="6432086"/>
            <a:ext cx="313685" cy="31368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161931F-0A4A-4C35-5746-BB14E608944D}"/>
              </a:ext>
            </a:extLst>
          </p:cNvPr>
          <p:cNvSpPr/>
          <p:nvPr/>
        </p:nvSpPr>
        <p:spPr>
          <a:xfrm>
            <a:off x="1" y="-2"/>
            <a:ext cx="11742416" cy="579121"/>
          </a:xfrm>
          <a:prstGeom prst="rect">
            <a:avLst/>
          </a:prstGeom>
          <a:gradFill flip="none" rotWithShape="1">
            <a:gsLst>
              <a:gs pos="0">
                <a:srgbClr val="012024"/>
              </a:gs>
              <a:gs pos="100000">
                <a:srgbClr val="90016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5F29017-5363-B80C-6335-C539BEAC6C89}"/>
              </a:ext>
            </a:extLst>
          </p:cNvPr>
          <p:cNvCxnSpPr>
            <a:cxnSpLocks/>
          </p:cNvCxnSpPr>
          <p:nvPr/>
        </p:nvCxnSpPr>
        <p:spPr>
          <a:xfrm>
            <a:off x="0" y="579119"/>
            <a:ext cx="117424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08A9E15-C07F-1E71-10C7-18F37D7EE3DA}"/>
              </a:ext>
            </a:extLst>
          </p:cNvPr>
          <p:cNvSpPr txBox="1"/>
          <p:nvPr/>
        </p:nvSpPr>
        <p:spPr>
          <a:xfrm>
            <a:off x="7833360" y="104892"/>
            <a:ext cx="382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01 # Intro to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C2CF54-3AB0-7EA9-2415-C6888DB4071D}"/>
              </a:ext>
            </a:extLst>
          </p:cNvPr>
          <p:cNvSpPr txBox="1"/>
          <p:nvPr/>
        </p:nvSpPr>
        <p:spPr>
          <a:xfrm>
            <a:off x="86291" y="29298"/>
            <a:ext cx="7162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Pointers… are Arrays?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71CD7F-1092-27DC-C2FE-CABC9B454317}"/>
              </a:ext>
            </a:extLst>
          </p:cNvPr>
          <p:cNvSpPr txBox="1"/>
          <p:nvPr/>
        </p:nvSpPr>
        <p:spPr>
          <a:xfrm rot="5400000">
            <a:off x="10158383" y="1673105"/>
            <a:ext cx="3617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Pointers</a:t>
            </a:r>
            <a:r>
              <a:rPr lang="en-US" sz="1200" dirty="0">
                <a:solidFill>
                  <a:schemeClr val="bg1"/>
                </a:solidFill>
                <a:latin typeface="Cascadia Code ExtraLight" panose="020B0609020000020004" pitchFamily="49" charset="0"/>
                <a:ea typeface="Cascadia Code ExtraLight" panose="020B0609020000020004" pitchFamily="49" charset="0"/>
                <a:cs typeface="Cascadia Code ExtraLight" panose="020B0609020000020004" pitchFamily="49" charset="0"/>
              </a:rPr>
              <a:t> | C-Programming (TPE-008)</a:t>
            </a:r>
          </a:p>
        </p:txBody>
      </p:sp>
      <p:pic>
        <p:nvPicPr>
          <p:cNvPr id="5124" name="Picture 4" descr="Dynamic memory allocation in C and C++ | calloc malloc realloc free new  delete">
            <a:extLst>
              <a:ext uri="{FF2B5EF4-FFF2-40B4-BE49-F238E27FC236}">
                <a16:creationId xmlns:a16="http://schemas.microsoft.com/office/drawing/2014/main" id="{99E9D00A-BB78-F5EA-F18D-92F6EE5A5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1" y="1575658"/>
            <a:ext cx="6855175" cy="385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malloc in C++">
            <a:extLst>
              <a:ext uri="{FF2B5EF4-FFF2-40B4-BE49-F238E27FC236}">
                <a16:creationId xmlns:a16="http://schemas.microsoft.com/office/drawing/2014/main" id="{6E72E5AF-F3B0-B1F0-2FE2-435D816C1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466" y="2242660"/>
            <a:ext cx="4476750" cy="237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45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230</Words>
  <Application>Microsoft Office PowerPoint</Application>
  <PresentationFormat>Widescreen</PresentationFormat>
  <Paragraphs>62</Paragraphs>
  <Slides>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Cascadia Code</vt:lpstr>
      <vt:lpstr>Cascadia Code ExtraLight</vt:lpstr>
      <vt:lpstr>Cascadia Code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VANDAMME Simon</dc:creator>
  <cp:lastModifiedBy>VANDAMME Simon</cp:lastModifiedBy>
  <cp:revision>61</cp:revision>
  <dcterms:created xsi:type="dcterms:W3CDTF">2025-11-08T03:20:47Z</dcterms:created>
  <dcterms:modified xsi:type="dcterms:W3CDTF">2025-11-13T07:16:53Z</dcterms:modified>
</cp:coreProperties>
</file>