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7" r:id="rId5"/>
    <p:sldId id="263" r:id="rId6"/>
    <p:sldId id="276" r:id="rId7"/>
    <p:sldId id="277" r:id="rId8"/>
    <p:sldId id="265" r:id="rId9"/>
    <p:sldId id="278" r:id="rId10"/>
    <p:sldId id="280" r:id="rId11"/>
    <p:sldId id="279" r:id="rId12"/>
    <p:sldId id="264" r:id="rId13"/>
    <p:sldId id="269" r:id="rId14"/>
    <p:sldId id="259" r:id="rId15"/>
    <p:sldId id="260" r:id="rId16"/>
    <p:sldId id="262" r:id="rId17"/>
    <p:sldId id="266" r:id="rId18"/>
    <p:sldId id="267" r:id="rId19"/>
    <p:sldId id="268" r:id="rId20"/>
    <p:sldId id="270" r:id="rId21"/>
    <p:sldId id="271" r:id="rId22"/>
    <p:sldId id="272" r:id="rId23"/>
    <p:sldId id="273" r:id="rId24"/>
    <p:sldId id="281" r:id="rId25"/>
    <p:sldId id="274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76ABF0-A586-4E2D-8349-10B1DDD738E8}">
          <p14:sldIdLst>
            <p14:sldId id="256"/>
            <p14:sldId id="258"/>
          </p14:sldIdLst>
        </p14:section>
        <p14:section name="1-Intro" id="{FF9E4140-8FB7-4DF3-A698-DC60CC44221E}">
          <p14:sldIdLst>
            <p14:sldId id="261"/>
            <p14:sldId id="257"/>
            <p14:sldId id="263"/>
            <p14:sldId id="276"/>
            <p14:sldId id="277"/>
            <p14:sldId id="265"/>
            <p14:sldId id="278"/>
            <p14:sldId id="280"/>
            <p14:sldId id="279"/>
            <p14:sldId id="264"/>
            <p14:sldId id="269"/>
            <p14:sldId id="259"/>
            <p14:sldId id="260"/>
            <p14:sldId id="262"/>
          </p14:sldIdLst>
        </p14:section>
        <p14:section name="2-Const" id="{80CA0705-D60A-47A1-B459-A1E0E2CC3CD4}">
          <p14:sldIdLst>
            <p14:sldId id="266"/>
            <p14:sldId id="267"/>
          </p14:sldIdLst>
        </p14:section>
        <p14:section name="3-Operators" id="{F9554F6A-D638-496A-B410-A185BB21782E}">
          <p14:sldIdLst>
            <p14:sldId id="268"/>
            <p14:sldId id="270"/>
            <p14:sldId id="271"/>
            <p14:sldId id="272"/>
          </p14:sldIdLst>
        </p14:section>
        <p14:section name="4-I/O" id="{9AE60B27-4399-4961-AFED-CD17D74C117E}">
          <p14:sldIdLst>
            <p14:sldId id="273"/>
            <p14:sldId id="281"/>
            <p14:sldId id="27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>
        <p:scale>
          <a:sx n="125" d="100"/>
          <a:sy n="125" d="100"/>
        </p:scale>
        <p:origin x="166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E5BED-CD5C-10E6-C15E-6BAC658BA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1D10C-6E04-7BDF-0048-D45BAC3C7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179B4-0960-01ED-DF95-FFF8DC8B8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F867-DC4C-4FD8-98CE-DB25233E9EB4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05DA2-1C0A-ED9D-2A5F-B4E58BAE8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EAB46-10D7-82DA-60AD-D9E3E6315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D0C7-64B2-4D1E-B091-5F74927B085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12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00EDF-118E-1933-97EC-3A37240E6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3D9F1-BC3C-8011-5D9A-7E7D4AD69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7D1F6-BEEA-9E57-357A-5365FB95A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F867-DC4C-4FD8-98CE-DB25233E9EB4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399BC-9933-0550-2786-0D109245C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FE9C4-E0EC-DB70-ED7A-775B81DE1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D0C7-64B2-4D1E-B091-5F74927B085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366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45C59-6A41-3F6A-7CA5-C8685619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8094A-CA49-42F5-52EF-B821F4973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DF907-EE49-1B6A-214B-0AF9AB6B1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F867-DC4C-4FD8-98CE-DB25233E9EB4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E5C7F-6E09-991A-F75C-B15384BC0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1E710-E95B-15A1-800A-8227E565E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D0C7-64B2-4D1E-B091-5F74927B085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665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ABB53-7564-ADDE-015D-02A2D1E40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87D25-8F76-D7AC-8BB0-52518F588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56CE5-4229-DFBD-25B6-EDF4A05BF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32DD9-F11B-6EC0-6CBA-A88D26CBC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F867-DC4C-4FD8-98CE-DB25233E9EB4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3DEA7-629E-4B27-D9D8-0B4247E5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FBD16-6112-F64F-753E-DC01F764E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D0C7-64B2-4D1E-B091-5F74927B085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4015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18520-1FE5-49DD-915A-5986E18F6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8FFE7-7F6F-2042-5BA2-13193DE3F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3824D-5CCF-0C8C-11C9-C4A0F479E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1360E2-F5B2-0BC3-FC2C-727DD8A2B5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31445B-030E-FACE-627D-086A238F9C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F733FB-AC68-7A02-05D1-B5AA83E3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F867-DC4C-4FD8-98CE-DB25233E9EB4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88716-7CAF-28CE-4F13-05521EF1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AEA7FB-1D11-DE00-51EE-6524342A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D0C7-64B2-4D1E-B091-5F74927B085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2923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B3691-44AE-50D6-DBB3-35A9680F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8561EB-8E7D-CB96-FD53-82A83540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F867-DC4C-4FD8-98CE-DB25233E9EB4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5758E6-2F76-647A-E1E5-F2C644BFB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E9A72-53D7-8236-140D-1CE2D9FA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D0C7-64B2-4D1E-B091-5F74927B085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6224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6D49DE-AE4D-94B8-1346-10B58DC32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F867-DC4C-4FD8-98CE-DB25233E9EB4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2E4411-8A03-7635-E1FD-BF945F24B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597B5-3F94-D9A2-E044-19BD1C57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D0C7-64B2-4D1E-B091-5F74927B085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7974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A21D1-CE27-51F9-55F2-4D76CD235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EE476-0F29-B1A8-5B0D-B9B3203F1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9E1E1-871E-33E1-D85B-A46D56AAE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AC78E-BC17-0483-8111-5077C9B32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F867-DC4C-4FD8-98CE-DB25233E9EB4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00EF2-488F-7831-9D4B-546FCFB91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FC3C7-88CE-4924-DA93-08CDB40EF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D0C7-64B2-4D1E-B091-5F74927B085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1379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94295-EC4D-12FF-5264-020EF7CE0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BCC66D-CBA1-2F01-6B65-B9CACED34E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13F48-CD09-5A88-5C89-81CBE74C6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B9599-DAB0-8754-914F-0CAA202F6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F867-DC4C-4FD8-98CE-DB25233E9EB4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FB36E-E83B-1097-AF11-381C9BAE3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718CF-ECB0-789E-038F-42F62FEE7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D0C7-64B2-4D1E-B091-5F74927B085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1807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2F86-B99D-1737-C334-E1EEB3317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7AE3F-0DE2-520A-C256-11C603306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4F4CF-C31C-0751-5342-3D47DB035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F867-DC4C-4FD8-98CE-DB25233E9EB4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26712-BFD5-6028-FBA8-2B74B0860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CF09-B237-8E58-0D6D-51D3825BA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D0C7-64B2-4D1E-B091-5F74927B085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8810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4FDB66-DC83-D1A5-CDF8-B4C977AF8C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D8EB0-B52C-2448-0400-391D031AA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03813-342B-D522-B32C-588AE8E5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F867-DC4C-4FD8-98CE-DB25233E9EB4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01865-BEB9-8455-0CA4-F6E294802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C27E2-8296-781B-E599-C351D65FA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4D0C7-64B2-4D1E-B091-5F74927B085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16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E1F0A3-77A0-DD53-6AB1-D5CCB7466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A4A9-6832-A8EB-577D-7CE29710E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A9EBE-7C80-4D8D-E1DE-12249ABC4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BF867-DC4C-4FD8-98CE-DB25233E9EB4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77B46-06E1-B4FC-F029-13B581245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392E3-81C0-2AD4-6913-F2635A592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74D0C7-64B2-4D1E-B091-5F74927B085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269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vandamme@omnesintervenant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EDCC8-4F86-3B0C-B32E-F06B569B0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6413"/>
            <a:ext cx="9144000" cy="2387600"/>
          </a:xfrm>
        </p:spPr>
        <p:txBody>
          <a:bodyPr/>
          <a:lstStyle/>
          <a:p>
            <a:r>
              <a:rPr lang="en-US" b="1" noProof="0" dirty="0"/>
              <a:t>C-PROGRAMMING</a:t>
            </a:r>
            <a:br>
              <a:rPr lang="en-US" noProof="0" dirty="0"/>
            </a:br>
            <a:r>
              <a:rPr lang="en-US" noProof="0" dirty="0"/>
              <a:t>TPE-004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3CB0F-7327-4980-4A17-13E7D6B5B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432880"/>
            <a:ext cx="10668000" cy="10622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065F0D-646A-522B-253C-51488658C8E3}"/>
              </a:ext>
            </a:extLst>
          </p:cNvPr>
          <p:cNvSpPr txBox="1"/>
          <p:nvPr/>
        </p:nvSpPr>
        <p:spPr>
          <a:xfrm>
            <a:off x="4122991" y="5575300"/>
            <a:ext cx="394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hlinkClick r:id="rId3"/>
              </a:rPr>
              <a:t>svandamme@omnesintervenant.com</a:t>
            </a:r>
            <a:endParaRPr lang="en-US" noProof="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FDA60B-37EA-0F5F-A303-465796231F83}"/>
              </a:ext>
            </a:extLst>
          </p:cNvPr>
          <p:cNvSpPr/>
          <p:nvPr/>
        </p:nvSpPr>
        <p:spPr>
          <a:xfrm>
            <a:off x="3928968" y="5111376"/>
            <a:ext cx="433406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280599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AF2BB-73B7-14BB-93DC-FC0AD25C4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645F50-5A05-D037-362F-72307DF3F87A}"/>
              </a:ext>
            </a:extLst>
          </p:cNvPr>
          <p:cNvSpPr/>
          <p:nvPr/>
        </p:nvSpPr>
        <p:spPr>
          <a:xfrm>
            <a:off x="188818" y="291726"/>
            <a:ext cx="4334062" cy="369332"/>
          </a:xfrm>
          <a:prstGeom prst="roundRect">
            <a:avLst>
              <a:gd name="adj" fmla="val 207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Table of content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D4D95E-3F6A-7980-2049-E745E4B8D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300784"/>
              </p:ext>
            </p:extLst>
          </p:nvPr>
        </p:nvGraphicFramePr>
        <p:xfrm>
          <a:off x="304800" y="1150620"/>
          <a:ext cx="7105048" cy="8926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1995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587305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25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TPE-004-1</a:t>
                      </a:r>
                    </a:p>
                  </a:txBody>
                  <a:tcPr marL="94820" marR="948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noProof="0" dirty="0">
                          <a:effectLst/>
                        </a:rPr>
                        <a:t> Introduction to Data and Variables</a:t>
                      </a:r>
                      <a:endParaRPr lang="en-US" sz="15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519930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noProof="0" dirty="0">
                          <a:solidFill>
                            <a:schemeClr val="tx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50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500" noProof="0" dirty="0">
                          <a:solidFill>
                            <a:schemeClr val="tx1"/>
                          </a:solidFill>
                        </a:rPr>
                        <a:t>Learn how to declare, initialize, and use variables in simple programs.</a:t>
                      </a:r>
                      <a:endParaRPr lang="en-US" sz="15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427" marR="126427" marT="63213" marB="63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64CE86-0372-DC03-F6F2-6AA21A7B7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492952"/>
              </p:ext>
            </p:extLst>
          </p:nvPr>
        </p:nvGraphicFramePr>
        <p:xfrm>
          <a:off x="304800" y="2520768"/>
          <a:ext cx="7105048" cy="8926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1995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587305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25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TPE-004-2</a:t>
                      </a:r>
                    </a:p>
                  </a:txBody>
                  <a:tcPr marL="94820" marR="948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noProof="0" dirty="0">
                          <a:effectLst/>
                        </a:rPr>
                        <a:t> </a:t>
                      </a:r>
                      <a:r>
                        <a:rPr lang="fr-FR" sz="1500" dirty="0"/>
                        <a:t>Constants and </a:t>
                      </a:r>
                      <a:r>
                        <a:rPr lang="fr-FR" sz="1500" dirty="0" err="1"/>
                        <a:t>Literals</a:t>
                      </a:r>
                      <a:endParaRPr lang="en-US" sz="15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519930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noProof="0" dirty="0">
                          <a:solidFill>
                            <a:schemeClr val="tx1"/>
                          </a:solidFill>
                        </a:rPr>
                        <a:t>Learn how to represent fixed values in programs and prevent changes to important data using constants.</a:t>
                      </a:r>
                      <a:endParaRPr lang="en-US" sz="15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427" marR="126427" marT="63213" marB="63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3E48B5-AD17-1641-9449-8CC8CD195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70702"/>
              </p:ext>
            </p:extLst>
          </p:nvPr>
        </p:nvGraphicFramePr>
        <p:xfrm>
          <a:off x="304800" y="3890916"/>
          <a:ext cx="7105048" cy="8926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1995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587305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25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TPE-004-3</a:t>
                      </a:r>
                    </a:p>
                  </a:txBody>
                  <a:tcPr marL="94820" marR="948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noProof="0" dirty="0">
                          <a:effectLst/>
                        </a:rPr>
                        <a:t> </a:t>
                      </a:r>
                      <a:r>
                        <a:rPr lang="fr-FR" sz="1500" dirty="0" err="1"/>
                        <a:t>Operators</a:t>
                      </a:r>
                      <a:r>
                        <a:rPr lang="fr-FR" sz="1500" dirty="0"/>
                        <a:t> and Expressions</a:t>
                      </a:r>
                      <a:endParaRPr lang="en-US" sz="15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519930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noProof="0" dirty="0">
                          <a:solidFill>
                            <a:schemeClr val="tx1"/>
                          </a:solidFill>
                        </a:rPr>
                        <a:t>Master the symbols that let you perform calculations and comparisons. Understand how C evaluates expressions.</a:t>
                      </a:r>
                      <a:endParaRPr lang="en-US" sz="15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427" marR="126427" marT="63213" marB="63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EE473D7-6E8C-312B-83F2-97711430E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366791"/>
              </p:ext>
            </p:extLst>
          </p:nvPr>
        </p:nvGraphicFramePr>
        <p:xfrm>
          <a:off x="304800" y="5261064"/>
          <a:ext cx="7105048" cy="8926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1995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587305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2533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TPE-004-4</a:t>
                      </a:r>
                    </a:p>
                  </a:txBody>
                  <a:tcPr marL="94820" marR="948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noProof="0" dirty="0">
                          <a:effectLst/>
                        </a:rPr>
                        <a:t> </a:t>
                      </a:r>
                      <a:r>
                        <a:rPr lang="en-US" sz="1500" dirty="0"/>
                        <a:t>Input and Output (I/O) Basics</a:t>
                      </a:r>
                      <a:endParaRPr lang="en-US" sz="15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519930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noProof="0" dirty="0">
                          <a:solidFill>
                            <a:schemeClr val="tx1"/>
                          </a:solidFill>
                        </a:rPr>
                        <a:t>Use the standard input/output functions to interact with users. Learn how to display results and read user input.</a:t>
                      </a:r>
                      <a:endParaRPr lang="en-US" sz="15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427" marR="126427" marT="63213" marB="63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959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B4091-6DBB-E812-8E7B-424D4A4FA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80B7A39-18C0-89BF-539B-C454F73C716D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Introduction to Data and Variables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Learn how to declare, initialize, and use variables in simple programs.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699FBA-BE77-0761-601A-E9BF5AC498FE}"/>
              </a:ext>
            </a:extLst>
          </p:cNvPr>
          <p:cNvSpPr/>
          <p:nvPr/>
        </p:nvSpPr>
        <p:spPr>
          <a:xfrm>
            <a:off x="150718" y="348876"/>
            <a:ext cx="28655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Variables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D699198-B003-54EE-7DA6-5CB956A477FC}"/>
              </a:ext>
            </a:extLst>
          </p:cNvPr>
          <p:cNvSpPr/>
          <p:nvPr/>
        </p:nvSpPr>
        <p:spPr>
          <a:xfrm>
            <a:off x="3459068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What’s a variable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2AC09-C4F5-5F7E-0F4F-AED4A770287A}"/>
              </a:ext>
            </a:extLst>
          </p:cNvPr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424652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3C922-516D-AE06-1FA2-BED5965EE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BD58E52-8555-1540-B24F-E714048B6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669152"/>
              </p:ext>
            </p:extLst>
          </p:nvPr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Introduction to Data and Variables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Learn how to declare, initialize, and use variables in simple programs.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981C5C8A-B1BA-564B-7078-0328AB193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084" y="910345"/>
            <a:ext cx="3170332" cy="58714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02B952-E916-0958-55E3-D806FA526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360" y="1776227"/>
            <a:ext cx="2689423" cy="25179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B84400-21DA-814D-474D-C0F107491192}"/>
              </a:ext>
            </a:extLst>
          </p:cNvPr>
          <p:cNvSpPr txBox="1"/>
          <p:nvPr/>
        </p:nvSpPr>
        <p:spPr>
          <a:xfrm>
            <a:off x="8121292" y="1241795"/>
            <a:ext cx="2359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noProof="0" dirty="0"/>
              <a:t>How to set a variable?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DCAE201-54F8-E085-F997-F8AEFD9E875B}"/>
              </a:ext>
            </a:extLst>
          </p:cNvPr>
          <p:cNvSpPr/>
          <p:nvPr/>
        </p:nvSpPr>
        <p:spPr>
          <a:xfrm>
            <a:off x="150718" y="348876"/>
            <a:ext cx="28655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Variables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E169D2B-B03B-A8AC-5507-953BD7599F0E}"/>
              </a:ext>
            </a:extLst>
          </p:cNvPr>
          <p:cNvSpPr/>
          <p:nvPr/>
        </p:nvSpPr>
        <p:spPr>
          <a:xfrm>
            <a:off x="3459068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Overview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1263F1-ECB3-D527-C2BB-46A5A4606C48}"/>
              </a:ext>
            </a:extLst>
          </p:cNvPr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5E6C483-A217-6A19-AC25-2BDB999DF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5915" y="4955593"/>
            <a:ext cx="3410309" cy="82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792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94CC3-F173-7F62-758C-0C3E0F087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6F6BFDA-8B20-3E1D-FAAC-9969D27685BE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Introduction to Data and Variables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Learn how to declare, initialize, and use variables in simple programs.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747C72F-4B90-3F0D-84AC-796C6C3010CF}"/>
              </a:ext>
            </a:extLst>
          </p:cNvPr>
          <p:cNvSpPr/>
          <p:nvPr/>
        </p:nvSpPr>
        <p:spPr>
          <a:xfrm>
            <a:off x="150718" y="348876"/>
            <a:ext cx="28655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Variables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0421A70-17C7-FDB7-56AA-3A31A97EAA15}"/>
              </a:ext>
            </a:extLst>
          </p:cNvPr>
          <p:cNvSpPr/>
          <p:nvPr/>
        </p:nvSpPr>
        <p:spPr>
          <a:xfrm>
            <a:off x="3459068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A “bit” of memory…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F7126F-7B64-F368-DACA-45E53B22C1CE}"/>
              </a:ext>
            </a:extLst>
          </p:cNvPr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45F8EB-246B-85C7-C62F-8679BE086299}"/>
              </a:ext>
            </a:extLst>
          </p:cNvPr>
          <p:cNvSpPr/>
          <p:nvPr/>
        </p:nvSpPr>
        <p:spPr>
          <a:xfrm>
            <a:off x="400050" y="1568681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3471C1-65E3-8D7F-3D8A-CA6C25DFEF4A}"/>
              </a:ext>
            </a:extLst>
          </p:cNvPr>
          <p:cNvSpPr/>
          <p:nvPr/>
        </p:nvSpPr>
        <p:spPr>
          <a:xfrm>
            <a:off x="1031034" y="1568681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3139C2-694A-9E9B-7CA6-E9FDC2FE7BF4}"/>
              </a:ext>
            </a:extLst>
          </p:cNvPr>
          <p:cNvSpPr txBox="1"/>
          <p:nvPr/>
        </p:nvSpPr>
        <p:spPr>
          <a:xfrm>
            <a:off x="336820" y="1180077"/>
            <a:ext cx="4502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binary</a:t>
            </a:r>
            <a:r>
              <a:rPr lang="en-US" dirty="0"/>
              <a:t> variable can have only </a:t>
            </a:r>
            <a:r>
              <a:rPr lang="en-US" b="1" dirty="0"/>
              <a:t>two values</a:t>
            </a:r>
            <a:r>
              <a:rPr lang="en-US" dirty="0"/>
              <a:t>: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AB1E92-5B64-0343-6619-D93D3BD0C70F}"/>
              </a:ext>
            </a:extLst>
          </p:cNvPr>
          <p:cNvSpPr txBox="1"/>
          <p:nvPr/>
        </p:nvSpPr>
        <p:spPr>
          <a:xfrm>
            <a:off x="349926" y="2928675"/>
            <a:ext cx="5074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Now, using multiple binary slot in the memory of the machine, we can code on multiple bits!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3A840F-55E9-26D1-04FF-67A9CD4A446E}"/>
              </a:ext>
            </a:extLst>
          </p:cNvPr>
          <p:cNvSpPr txBox="1"/>
          <p:nvPr/>
        </p:nvSpPr>
        <p:spPr>
          <a:xfrm>
            <a:off x="7614124" y="1083435"/>
            <a:ext cx="373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Analogy with </a:t>
            </a:r>
            <a:r>
              <a:rPr lang="en-US" b="1" dirty="0"/>
              <a:t>4 decimal digits</a:t>
            </a:r>
            <a:r>
              <a:rPr lang="en-US" dirty="0"/>
              <a:t>: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936E983-C966-EE6A-4B14-47F7D9FABC98}"/>
              </a:ext>
            </a:extLst>
          </p:cNvPr>
          <p:cNvSpPr/>
          <p:nvPr/>
        </p:nvSpPr>
        <p:spPr>
          <a:xfrm>
            <a:off x="8489950" y="1522839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2946126-3840-D8D7-EF22-AC3C0C19F9A9}"/>
              </a:ext>
            </a:extLst>
          </p:cNvPr>
          <p:cNvSpPr/>
          <p:nvPr/>
        </p:nvSpPr>
        <p:spPr>
          <a:xfrm>
            <a:off x="9105900" y="1522839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FCD3FC-B4AC-AE08-1674-128E722D2FB5}"/>
              </a:ext>
            </a:extLst>
          </p:cNvPr>
          <p:cNvSpPr/>
          <p:nvPr/>
        </p:nvSpPr>
        <p:spPr>
          <a:xfrm>
            <a:off x="9721850" y="1522839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4A0F201-D971-DAAC-6135-1CC2B3C442A1}"/>
              </a:ext>
            </a:extLst>
          </p:cNvPr>
          <p:cNvSpPr/>
          <p:nvPr/>
        </p:nvSpPr>
        <p:spPr>
          <a:xfrm>
            <a:off x="10337800" y="1522839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0FB9FF-63B3-A748-4EB8-FE9A01CF6B8A}"/>
              </a:ext>
            </a:extLst>
          </p:cNvPr>
          <p:cNvSpPr txBox="1"/>
          <p:nvPr/>
        </p:nvSpPr>
        <p:spPr>
          <a:xfrm>
            <a:off x="10458247" y="220309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8075F6-64DC-C157-8B39-DDDA589B6BF6}"/>
              </a:ext>
            </a:extLst>
          </p:cNvPr>
          <p:cNvSpPr txBox="1"/>
          <p:nvPr/>
        </p:nvSpPr>
        <p:spPr>
          <a:xfrm>
            <a:off x="10766370" y="2159164"/>
            <a:ext cx="3193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2EDF56-F8BF-FDAD-7499-6A0CCB0F0B36}"/>
              </a:ext>
            </a:extLst>
          </p:cNvPr>
          <p:cNvSpPr txBox="1"/>
          <p:nvPr/>
        </p:nvSpPr>
        <p:spPr>
          <a:xfrm>
            <a:off x="7518198" y="1600908"/>
            <a:ext cx="92525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(X)</a:t>
            </a:r>
            <a:r>
              <a:rPr lang="en-US" sz="1000" dirty="0"/>
              <a:t>10</a:t>
            </a:r>
            <a:r>
              <a:rPr lang="en-US" sz="2400" dirty="0"/>
              <a:t> =</a:t>
            </a:r>
          </a:p>
          <a:p>
            <a:pPr algn="r"/>
            <a:r>
              <a:rPr lang="en-US" sz="1400" dirty="0"/>
              <a:t>(4 digits)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24EC5D-2402-1F55-73BB-C5A89E748931}"/>
              </a:ext>
            </a:extLst>
          </p:cNvPr>
          <p:cNvSpPr txBox="1"/>
          <p:nvPr/>
        </p:nvSpPr>
        <p:spPr>
          <a:xfrm>
            <a:off x="9771808" y="222158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85C150-3376-E20C-8320-816CDCF3A78C}"/>
              </a:ext>
            </a:extLst>
          </p:cNvPr>
          <p:cNvSpPr txBox="1"/>
          <p:nvPr/>
        </p:nvSpPr>
        <p:spPr>
          <a:xfrm>
            <a:off x="10079931" y="2177654"/>
            <a:ext cx="3193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248A32-BB93-495C-1E98-D84E0FF03197}"/>
              </a:ext>
            </a:extLst>
          </p:cNvPr>
          <p:cNvSpPr txBox="1"/>
          <p:nvPr/>
        </p:nvSpPr>
        <p:spPr>
          <a:xfrm>
            <a:off x="9169780" y="220309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E52DB6C-F052-B9AB-8D04-3DB8C7C55F4B}"/>
              </a:ext>
            </a:extLst>
          </p:cNvPr>
          <p:cNvSpPr txBox="1"/>
          <p:nvPr/>
        </p:nvSpPr>
        <p:spPr>
          <a:xfrm>
            <a:off x="9477903" y="2159164"/>
            <a:ext cx="3193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72EF92-E28E-6B05-FAF4-BC1DB074B33E}"/>
              </a:ext>
            </a:extLst>
          </p:cNvPr>
          <p:cNvSpPr txBox="1"/>
          <p:nvPr/>
        </p:nvSpPr>
        <p:spPr>
          <a:xfrm>
            <a:off x="8502372" y="222158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9F3129-57D6-F2AE-CD82-C61178D66C10}"/>
              </a:ext>
            </a:extLst>
          </p:cNvPr>
          <p:cNvSpPr txBox="1"/>
          <p:nvPr/>
        </p:nvSpPr>
        <p:spPr>
          <a:xfrm>
            <a:off x="8810495" y="2177654"/>
            <a:ext cx="3193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8F3CFB60-C415-37DE-9B21-9B2FD0655602}"/>
              </a:ext>
            </a:extLst>
          </p:cNvPr>
          <p:cNvSpPr txBox="1"/>
          <p:nvPr/>
        </p:nvSpPr>
        <p:spPr>
          <a:xfrm>
            <a:off x="8405694" y="2690336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9000</a:t>
            </a:r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50B8F090-1838-6DFC-46EA-6A3B6A2DD57C}"/>
              </a:ext>
            </a:extLst>
          </p:cNvPr>
          <p:cNvSpPr txBox="1"/>
          <p:nvPr/>
        </p:nvSpPr>
        <p:spPr>
          <a:xfrm>
            <a:off x="9155406" y="269033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500</a:t>
            </a:r>
          </a:p>
        </p:txBody>
      </p:sp>
      <p:sp>
        <p:nvSpPr>
          <p:cNvPr id="2051" name="TextBox 2050">
            <a:extLst>
              <a:ext uri="{FF2B5EF4-FFF2-40B4-BE49-F238E27FC236}">
                <a16:creationId xmlns:a16="http://schemas.microsoft.com/office/drawing/2014/main" id="{5E7F671E-0DC2-120D-9C83-0B1378B96704}"/>
              </a:ext>
            </a:extLst>
          </p:cNvPr>
          <p:cNvSpPr txBox="1"/>
          <p:nvPr/>
        </p:nvSpPr>
        <p:spPr>
          <a:xfrm>
            <a:off x="9814061" y="269033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00</a:t>
            </a:r>
          </a:p>
        </p:txBody>
      </p:sp>
      <p:sp>
        <p:nvSpPr>
          <p:cNvPr id="2053" name="TextBox 2052">
            <a:extLst>
              <a:ext uri="{FF2B5EF4-FFF2-40B4-BE49-F238E27FC236}">
                <a16:creationId xmlns:a16="http://schemas.microsoft.com/office/drawing/2014/main" id="{B543293D-A000-A364-6148-C6267031ECEB}"/>
              </a:ext>
            </a:extLst>
          </p:cNvPr>
          <p:cNvSpPr txBox="1"/>
          <p:nvPr/>
        </p:nvSpPr>
        <p:spPr>
          <a:xfrm>
            <a:off x="10527268" y="271000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2057" name="TextBox 2056">
            <a:extLst>
              <a:ext uri="{FF2B5EF4-FFF2-40B4-BE49-F238E27FC236}">
                <a16:creationId xmlns:a16="http://schemas.microsoft.com/office/drawing/2014/main" id="{C25F315B-6CE7-98E0-2C23-A12FFAD7D40B}"/>
              </a:ext>
            </a:extLst>
          </p:cNvPr>
          <p:cNvSpPr txBox="1"/>
          <p:nvPr/>
        </p:nvSpPr>
        <p:spPr>
          <a:xfrm>
            <a:off x="10854240" y="2379606"/>
            <a:ext cx="10791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Multiplied by…</a:t>
            </a:r>
          </a:p>
        </p:txBody>
      </p:sp>
      <p:sp>
        <p:nvSpPr>
          <p:cNvPr id="2058" name="TextBox 2057">
            <a:extLst>
              <a:ext uri="{FF2B5EF4-FFF2-40B4-BE49-F238E27FC236}">
                <a16:creationId xmlns:a16="http://schemas.microsoft.com/office/drawing/2014/main" id="{B4567996-58E8-F7A6-2E21-401E407F7BED}"/>
              </a:ext>
            </a:extLst>
          </p:cNvPr>
          <p:cNvSpPr txBox="1"/>
          <p:nvPr/>
        </p:nvSpPr>
        <p:spPr>
          <a:xfrm>
            <a:off x="10826929" y="2805040"/>
            <a:ext cx="10182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1">
                    <a:lumMod val="50000"/>
                  </a:schemeClr>
                </a:solidFill>
              </a:rPr>
              <a:t>Result per tile</a:t>
            </a:r>
          </a:p>
        </p:txBody>
      </p:sp>
      <p:sp>
        <p:nvSpPr>
          <p:cNvPr id="2078" name="TextBox 2077">
            <a:extLst>
              <a:ext uri="{FF2B5EF4-FFF2-40B4-BE49-F238E27FC236}">
                <a16:creationId xmlns:a16="http://schemas.microsoft.com/office/drawing/2014/main" id="{E2545BB7-5A7E-4D76-F5FE-FE657AFD3ECC}"/>
              </a:ext>
            </a:extLst>
          </p:cNvPr>
          <p:cNvSpPr txBox="1"/>
          <p:nvPr/>
        </p:nvSpPr>
        <p:spPr>
          <a:xfrm>
            <a:off x="7670918" y="4073781"/>
            <a:ext cx="191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Coding in </a:t>
            </a:r>
            <a:r>
              <a:rPr lang="en-US" b="1" dirty="0"/>
              <a:t>4 bits</a:t>
            </a:r>
            <a:r>
              <a:rPr lang="en-US" dirty="0"/>
              <a:t>:</a:t>
            </a:r>
          </a:p>
        </p:txBody>
      </p:sp>
      <p:sp>
        <p:nvSpPr>
          <p:cNvPr id="2079" name="Rectangle 2078">
            <a:extLst>
              <a:ext uri="{FF2B5EF4-FFF2-40B4-BE49-F238E27FC236}">
                <a16:creationId xmlns:a16="http://schemas.microsoft.com/office/drawing/2014/main" id="{8BEA8013-6B1B-33AC-B4BE-31653539E18E}"/>
              </a:ext>
            </a:extLst>
          </p:cNvPr>
          <p:cNvSpPr/>
          <p:nvPr/>
        </p:nvSpPr>
        <p:spPr>
          <a:xfrm>
            <a:off x="8546744" y="4513185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80" name="Rectangle 2079">
            <a:extLst>
              <a:ext uri="{FF2B5EF4-FFF2-40B4-BE49-F238E27FC236}">
                <a16:creationId xmlns:a16="http://schemas.microsoft.com/office/drawing/2014/main" id="{2C91D821-2247-B1EA-AAD2-B91FB607BC79}"/>
              </a:ext>
            </a:extLst>
          </p:cNvPr>
          <p:cNvSpPr/>
          <p:nvPr/>
        </p:nvSpPr>
        <p:spPr>
          <a:xfrm>
            <a:off x="9162694" y="4513185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81" name="Rectangle 2080">
            <a:extLst>
              <a:ext uri="{FF2B5EF4-FFF2-40B4-BE49-F238E27FC236}">
                <a16:creationId xmlns:a16="http://schemas.microsoft.com/office/drawing/2014/main" id="{C537B663-F91B-766F-E5B3-2D99BD021934}"/>
              </a:ext>
            </a:extLst>
          </p:cNvPr>
          <p:cNvSpPr/>
          <p:nvPr/>
        </p:nvSpPr>
        <p:spPr>
          <a:xfrm>
            <a:off x="9778644" y="4513185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7F12AEF9-E0AB-7802-9F1B-65C6A023603F}"/>
              </a:ext>
            </a:extLst>
          </p:cNvPr>
          <p:cNvSpPr/>
          <p:nvPr/>
        </p:nvSpPr>
        <p:spPr>
          <a:xfrm>
            <a:off x="10394594" y="4513185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83" name="TextBox 2082">
            <a:extLst>
              <a:ext uri="{FF2B5EF4-FFF2-40B4-BE49-F238E27FC236}">
                <a16:creationId xmlns:a16="http://schemas.microsoft.com/office/drawing/2014/main" id="{B4758C1E-1CB7-07E0-8EEC-85B9781283B0}"/>
              </a:ext>
            </a:extLst>
          </p:cNvPr>
          <p:cNvSpPr txBox="1"/>
          <p:nvPr/>
        </p:nvSpPr>
        <p:spPr>
          <a:xfrm>
            <a:off x="10545176" y="519344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</a:p>
        </p:txBody>
      </p:sp>
      <p:sp>
        <p:nvSpPr>
          <p:cNvPr id="2084" name="TextBox 2083">
            <a:extLst>
              <a:ext uri="{FF2B5EF4-FFF2-40B4-BE49-F238E27FC236}">
                <a16:creationId xmlns:a16="http://schemas.microsoft.com/office/drawing/2014/main" id="{5F2AD5FB-E999-0B15-8BBF-F0C11267ADC6}"/>
              </a:ext>
            </a:extLst>
          </p:cNvPr>
          <p:cNvSpPr txBox="1"/>
          <p:nvPr/>
        </p:nvSpPr>
        <p:spPr>
          <a:xfrm>
            <a:off x="10684876" y="5149510"/>
            <a:ext cx="3193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</a:p>
        </p:txBody>
      </p:sp>
      <p:sp>
        <p:nvSpPr>
          <p:cNvPr id="2085" name="TextBox 2084">
            <a:extLst>
              <a:ext uri="{FF2B5EF4-FFF2-40B4-BE49-F238E27FC236}">
                <a16:creationId xmlns:a16="http://schemas.microsoft.com/office/drawing/2014/main" id="{D3F8FAF0-3ED6-4699-4F13-06387BB9E0DB}"/>
              </a:ext>
            </a:extLst>
          </p:cNvPr>
          <p:cNvSpPr txBox="1"/>
          <p:nvPr/>
        </p:nvSpPr>
        <p:spPr>
          <a:xfrm>
            <a:off x="9937774" y="519344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</a:p>
        </p:txBody>
      </p:sp>
      <p:sp>
        <p:nvSpPr>
          <p:cNvPr id="2086" name="TextBox 2085">
            <a:extLst>
              <a:ext uri="{FF2B5EF4-FFF2-40B4-BE49-F238E27FC236}">
                <a16:creationId xmlns:a16="http://schemas.microsoft.com/office/drawing/2014/main" id="{549CD0FC-C360-7E1F-9BB0-8C850C375971}"/>
              </a:ext>
            </a:extLst>
          </p:cNvPr>
          <p:cNvSpPr txBox="1"/>
          <p:nvPr/>
        </p:nvSpPr>
        <p:spPr>
          <a:xfrm>
            <a:off x="10077474" y="5149510"/>
            <a:ext cx="3193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</a:p>
        </p:txBody>
      </p:sp>
      <p:sp>
        <p:nvSpPr>
          <p:cNvPr id="2087" name="TextBox 2086">
            <a:extLst>
              <a:ext uri="{FF2B5EF4-FFF2-40B4-BE49-F238E27FC236}">
                <a16:creationId xmlns:a16="http://schemas.microsoft.com/office/drawing/2014/main" id="{98863382-2CC4-B4BD-AE3D-3B936B18B7DB}"/>
              </a:ext>
            </a:extLst>
          </p:cNvPr>
          <p:cNvSpPr txBox="1"/>
          <p:nvPr/>
        </p:nvSpPr>
        <p:spPr>
          <a:xfrm>
            <a:off x="9314755" y="519344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</a:p>
        </p:txBody>
      </p:sp>
      <p:sp>
        <p:nvSpPr>
          <p:cNvPr id="2088" name="TextBox 2087">
            <a:extLst>
              <a:ext uri="{FF2B5EF4-FFF2-40B4-BE49-F238E27FC236}">
                <a16:creationId xmlns:a16="http://schemas.microsoft.com/office/drawing/2014/main" id="{FC287C9A-D772-378A-8925-BDE6C6E8EADC}"/>
              </a:ext>
            </a:extLst>
          </p:cNvPr>
          <p:cNvSpPr txBox="1"/>
          <p:nvPr/>
        </p:nvSpPr>
        <p:spPr>
          <a:xfrm>
            <a:off x="9454455" y="5149510"/>
            <a:ext cx="3193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</a:p>
        </p:txBody>
      </p:sp>
      <p:sp>
        <p:nvSpPr>
          <p:cNvPr id="2089" name="TextBox 2088">
            <a:extLst>
              <a:ext uri="{FF2B5EF4-FFF2-40B4-BE49-F238E27FC236}">
                <a16:creationId xmlns:a16="http://schemas.microsoft.com/office/drawing/2014/main" id="{4ACDE5F9-C589-A600-808C-8E5916097973}"/>
              </a:ext>
            </a:extLst>
          </p:cNvPr>
          <p:cNvSpPr txBox="1"/>
          <p:nvPr/>
        </p:nvSpPr>
        <p:spPr>
          <a:xfrm>
            <a:off x="8703676" y="5181491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</a:p>
        </p:txBody>
      </p:sp>
      <p:sp>
        <p:nvSpPr>
          <p:cNvPr id="2090" name="TextBox 2089">
            <a:extLst>
              <a:ext uri="{FF2B5EF4-FFF2-40B4-BE49-F238E27FC236}">
                <a16:creationId xmlns:a16="http://schemas.microsoft.com/office/drawing/2014/main" id="{2F924DEF-9F76-2F44-8B04-16BA93396345}"/>
              </a:ext>
            </a:extLst>
          </p:cNvPr>
          <p:cNvSpPr txBox="1"/>
          <p:nvPr/>
        </p:nvSpPr>
        <p:spPr>
          <a:xfrm>
            <a:off x="8843376" y="5137557"/>
            <a:ext cx="3193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</a:p>
        </p:txBody>
      </p:sp>
      <p:sp>
        <p:nvSpPr>
          <p:cNvPr id="2091" name="TextBox 2090">
            <a:extLst>
              <a:ext uri="{FF2B5EF4-FFF2-40B4-BE49-F238E27FC236}">
                <a16:creationId xmlns:a16="http://schemas.microsoft.com/office/drawing/2014/main" id="{8469BE6D-42B1-2C43-3E4C-918F7C6D0403}"/>
              </a:ext>
            </a:extLst>
          </p:cNvPr>
          <p:cNvSpPr txBox="1"/>
          <p:nvPr/>
        </p:nvSpPr>
        <p:spPr>
          <a:xfrm>
            <a:off x="7656745" y="4591254"/>
            <a:ext cx="84350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(X)</a:t>
            </a:r>
            <a:r>
              <a:rPr lang="en-US" sz="1050" dirty="0"/>
              <a:t>2</a:t>
            </a:r>
            <a:r>
              <a:rPr lang="en-US" sz="2400" dirty="0"/>
              <a:t> =</a:t>
            </a:r>
          </a:p>
          <a:p>
            <a:pPr algn="r"/>
            <a:r>
              <a:rPr lang="en-US" sz="1400" dirty="0"/>
              <a:t>(4 bits)</a:t>
            </a:r>
          </a:p>
        </p:txBody>
      </p:sp>
      <p:sp>
        <p:nvSpPr>
          <p:cNvPr id="2092" name="TextBox 2091">
            <a:extLst>
              <a:ext uri="{FF2B5EF4-FFF2-40B4-BE49-F238E27FC236}">
                <a16:creationId xmlns:a16="http://schemas.microsoft.com/office/drawing/2014/main" id="{D90A44EA-7873-34D4-CB7B-92F88EF07CDC}"/>
              </a:ext>
            </a:extLst>
          </p:cNvPr>
          <p:cNvSpPr txBox="1"/>
          <p:nvPr/>
        </p:nvSpPr>
        <p:spPr>
          <a:xfrm>
            <a:off x="10569096" y="56270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2093" name="TextBox 2092">
            <a:extLst>
              <a:ext uri="{FF2B5EF4-FFF2-40B4-BE49-F238E27FC236}">
                <a16:creationId xmlns:a16="http://schemas.microsoft.com/office/drawing/2014/main" id="{B21860B9-95AD-0051-BDE8-434E46F90C6F}"/>
              </a:ext>
            </a:extLst>
          </p:cNvPr>
          <p:cNvSpPr txBox="1"/>
          <p:nvPr/>
        </p:nvSpPr>
        <p:spPr>
          <a:xfrm>
            <a:off x="9948994" y="56377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2094" name="TextBox 2093">
            <a:extLst>
              <a:ext uri="{FF2B5EF4-FFF2-40B4-BE49-F238E27FC236}">
                <a16:creationId xmlns:a16="http://schemas.microsoft.com/office/drawing/2014/main" id="{EF9B6805-7589-9A8D-13F3-2D427ADD791A}"/>
              </a:ext>
            </a:extLst>
          </p:cNvPr>
          <p:cNvSpPr txBox="1"/>
          <p:nvPr/>
        </p:nvSpPr>
        <p:spPr>
          <a:xfrm>
            <a:off x="9325975" y="56377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4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95" name="TextBox 2094">
            <a:extLst>
              <a:ext uri="{FF2B5EF4-FFF2-40B4-BE49-F238E27FC236}">
                <a16:creationId xmlns:a16="http://schemas.microsoft.com/office/drawing/2014/main" id="{52B47AD4-4015-0DA1-8C6E-C07B4E2E89AE}"/>
              </a:ext>
            </a:extLst>
          </p:cNvPr>
          <p:cNvSpPr txBox="1"/>
          <p:nvPr/>
        </p:nvSpPr>
        <p:spPr>
          <a:xfrm>
            <a:off x="8703676" y="56377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2096" name="TextBox 2095">
            <a:extLst>
              <a:ext uri="{FF2B5EF4-FFF2-40B4-BE49-F238E27FC236}">
                <a16:creationId xmlns:a16="http://schemas.microsoft.com/office/drawing/2014/main" id="{1F26BECB-E9DD-022F-C003-4ED1FA1A2564}"/>
              </a:ext>
            </a:extLst>
          </p:cNvPr>
          <p:cNvSpPr txBox="1"/>
          <p:nvPr/>
        </p:nvSpPr>
        <p:spPr>
          <a:xfrm>
            <a:off x="10766014" y="5290503"/>
            <a:ext cx="10791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Multiplied by…</a:t>
            </a:r>
          </a:p>
        </p:txBody>
      </p:sp>
      <p:sp>
        <p:nvSpPr>
          <p:cNvPr id="2097" name="TextBox 2096">
            <a:extLst>
              <a:ext uri="{FF2B5EF4-FFF2-40B4-BE49-F238E27FC236}">
                <a16:creationId xmlns:a16="http://schemas.microsoft.com/office/drawing/2014/main" id="{B9526EC7-D363-9019-6895-CA04A7CC7FAB}"/>
              </a:ext>
            </a:extLst>
          </p:cNvPr>
          <p:cNvSpPr txBox="1"/>
          <p:nvPr/>
        </p:nvSpPr>
        <p:spPr>
          <a:xfrm>
            <a:off x="10813873" y="5724144"/>
            <a:ext cx="10182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1">
                    <a:lumMod val="50000"/>
                  </a:schemeClr>
                </a:solidFill>
              </a:rPr>
              <a:t>Result per tile</a:t>
            </a:r>
          </a:p>
        </p:txBody>
      </p:sp>
      <p:sp>
        <p:nvSpPr>
          <p:cNvPr id="2098" name="TextBox 2097">
            <a:extLst>
              <a:ext uri="{FF2B5EF4-FFF2-40B4-BE49-F238E27FC236}">
                <a16:creationId xmlns:a16="http://schemas.microsoft.com/office/drawing/2014/main" id="{083A1CFF-CF27-32B5-A84A-69F9EE5DB667}"/>
              </a:ext>
            </a:extLst>
          </p:cNvPr>
          <p:cNvSpPr txBox="1"/>
          <p:nvPr/>
        </p:nvSpPr>
        <p:spPr>
          <a:xfrm>
            <a:off x="8606767" y="6007045"/>
            <a:ext cx="238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Total sum 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</a:rPr>
              <a:t>(in base-10)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14</a:t>
            </a:r>
          </a:p>
        </p:txBody>
      </p:sp>
      <p:sp>
        <p:nvSpPr>
          <p:cNvPr id="2099" name="TextBox 2098">
            <a:extLst>
              <a:ext uri="{FF2B5EF4-FFF2-40B4-BE49-F238E27FC236}">
                <a16:creationId xmlns:a16="http://schemas.microsoft.com/office/drawing/2014/main" id="{40736679-E92D-8429-868F-E5F9C38456E2}"/>
              </a:ext>
            </a:extLst>
          </p:cNvPr>
          <p:cNvSpPr txBox="1"/>
          <p:nvPr/>
        </p:nvSpPr>
        <p:spPr>
          <a:xfrm>
            <a:off x="8380160" y="3114594"/>
            <a:ext cx="2573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Total sum 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</a:rPr>
              <a:t>(in base-10)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: 9503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101" name="Straight Connector 2100">
            <a:extLst>
              <a:ext uri="{FF2B5EF4-FFF2-40B4-BE49-F238E27FC236}">
                <a16:creationId xmlns:a16="http://schemas.microsoft.com/office/drawing/2014/main" id="{EEF9750C-95D1-B961-D81E-D5586401108A}"/>
              </a:ext>
            </a:extLst>
          </p:cNvPr>
          <p:cNvCxnSpPr/>
          <p:nvPr/>
        </p:nvCxnSpPr>
        <p:spPr>
          <a:xfrm>
            <a:off x="8380160" y="3079334"/>
            <a:ext cx="2532057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2" name="Straight Connector 2101">
            <a:extLst>
              <a:ext uri="{FF2B5EF4-FFF2-40B4-BE49-F238E27FC236}">
                <a16:creationId xmlns:a16="http://schemas.microsoft.com/office/drawing/2014/main" id="{2C80323E-6510-1A9D-844B-A18ECFA50EB7}"/>
              </a:ext>
            </a:extLst>
          </p:cNvPr>
          <p:cNvCxnSpPr/>
          <p:nvPr/>
        </p:nvCxnSpPr>
        <p:spPr>
          <a:xfrm>
            <a:off x="8500245" y="6002351"/>
            <a:ext cx="2532057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04" name="Picture 2" descr="ONE Bit Memory Circuit">
            <a:extLst>
              <a:ext uri="{FF2B5EF4-FFF2-40B4-BE49-F238E27FC236}">
                <a16:creationId xmlns:a16="http://schemas.microsoft.com/office/drawing/2014/main" id="{D9A28F49-7754-1A6F-B640-A9AE8B8C6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24" y="3575007"/>
            <a:ext cx="5260621" cy="2959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562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B72D0-785A-44C1-301B-F1A31387E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34D7D81-9E07-0EF3-AD7A-46EB2B12CB9F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Introduction to Data and Variables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Learn how to declare, initialize, and use variables in simple programs.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71605AC-6D12-A63E-2B9B-804D7801D963}"/>
              </a:ext>
            </a:extLst>
          </p:cNvPr>
          <p:cNvSpPr/>
          <p:nvPr/>
        </p:nvSpPr>
        <p:spPr>
          <a:xfrm>
            <a:off x="150718" y="348876"/>
            <a:ext cx="28655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Variables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19D3CA1-F3E6-D954-4CE1-813B426C78C4}"/>
              </a:ext>
            </a:extLst>
          </p:cNvPr>
          <p:cNvSpPr/>
          <p:nvPr/>
        </p:nvSpPr>
        <p:spPr>
          <a:xfrm>
            <a:off x="3459068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Boolean algebra (1/2)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00DF39-6AE5-448B-C6E9-2E518EE09EEA}"/>
              </a:ext>
            </a:extLst>
          </p:cNvPr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6FF604E-3FCA-1CCC-A934-39F597A0A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920" y="989599"/>
            <a:ext cx="6958013" cy="551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ONE Bit Memory Circuit">
            <a:extLst>
              <a:ext uri="{FF2B5EF4-FFF2-40B4-BE49-F238E27FC236}">
                <a16:creationId xmlns:a16="http://schemas.microsoft.com/office/drawing/2014/main" id="{5C7D66DE-B8E5-8CAD-C8EF-8753CF54D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05" y="2636007"/>
            <a:ext cx="3958596" cy="222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951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3DB7D-9EE1-1499-4006-7907D665B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6166185-1E97-7EBA-FD1C-F0D62B652234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Introduction to Data and Variables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Learn how to declare, initialize, and use variables in simple programs.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750027D-3A25-47A2-1372-E4BDCF5B000B}"/>
              </a:ext>
            </a:extLst>
          </p:cNvPr>
          <p:cNvSpPr/>
          <p:nvPr/>
        </p:nvSpPr>
        <p:spPr>
          <a:xfrm>
            <a:off x="150718" y="348876"/>
            <a:ext cx="28655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Variables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25E21E2-A1EC-76F6-4FD1-9B7DD6F3A6F9}"/>
              </a:ext>
            </a:extLst>
          </p:cNvPr>
          <p:cNvSpPr/>
          <p:nvPr/>
        </p:nvSpPr>
        <p:spPr>
          <a:xfrm>
            <a:off x="3459068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Boolean algebra (2/2)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C75F4D-0965-692C-9E31-02B46A7024F1}"/>
              </a:ext>
            </a:extLst>
          </p:cNvPr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31C3B01-CDF0-F30F-7E3A-BAAF4935F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78" y="2056398"/>
            <a:ext cx="3834019" cy="3041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980CFC-F6F9-5E4E-6F24-F7177CFE6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531" y="1274883"/>
            <a:ext cx="7790751" cy="460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37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E06A0-D541-A8A9-0760-0E0B199D8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47114BF-3F32-5927-F7BB-546EBDE44CA3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Introduction to Data and Variables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Learn how to declare, initialize, and use variables in simple programs.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12D04E-7FEF-3A64-0F21-760E58EE21F3}"/>
              </a:ext>
            </a:extLst>
          </p:cNvPr>
          <p:cNvSpPr/>
          <p:nvPr/>
        </p:nvSpPr>
        <p:spPr>
          <a:xfrm>
            <a:off x="150718" y="348876"/>
            <a:ext cx="28655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Variables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42B32D-103E-91FE-A1ED-1657B0D6F2B0}"/>
              </a:ext>
            </a:extLst>
          </p:cNvPr>
          <p:cNvSpPr/>
          <p:nvPr/>
        </p:nvSpPr>
        <p:spPr>
          <a:xfrm>
            <a:off x="3459068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Binary, octet,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hexa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DEE743-E535-CC2A-03FD-7095C08B058B}"/>
              </a:ext>
            </a:extLst>
          </p:cNvPr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AC674-7DF7-2520-88CF-7B447CECAC82}"/>
              </a:ext>
            </a:extLst>
          </p:cNvPr>
          <p:cNvSpPr/>
          <p:nvPr/>
        </p:nvSpPr>
        <p:spPr>
          <a:xfrm>
            <a:off x="400050" y="2178281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AA4BD5-D893-107A-43E3-356D052B9042}"/>
              </a:ext>
            </a:extLst>
          </p:cNvPr>
          <p:cNvSpPr/>
          <p:nvPr/>
        </p:nvSpPr>
        <p:spPr>
          <a:xfrm>
            <a:off x="1016000" y="2178281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7D0B7-A238-2AC4-DAB2-4BD7FEA05603}"/>
              </a:ext>
            </a:extLst>
          </p:cNvPr>
          <p:cNvSpPr txBox="1"/>
          <p:nvPr/>
        </p:nvSpPr>
        <p:spPr>
          <a:xfrm>
            <a:off x="336820" y="1789677"/>
            <a:ext cx="4502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binary</a:t>
            </a:r>
            <a:r>
              <a:rPr lang="en-US" dirty="0"/>
              <a:t> variable can have only </a:t>
            </a:r>
            <a:r>
              <a:rPr lang="en-US" b="1" dirty="0"/>
              <a:t>two values</a:t>
            </a:r>
            <a:r>
              <a:rPr lang="en-US" dirty="0"/>
              <a:t>: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90EAB1-EA73-C82D-49B7-3D61502C0CDB}"/>
              </a:ext>
            </a:extLst>
          </p:cNvPr>
          <p:cNvSpPr txBox="1"/>
          <p:nvPr/>
        </p:nvSpPr>
        <p:spPr>
          <a:xfrm>
            <a:off x="336820" y="3075263"/>
            <a:ext cx="5374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decimal</a:t>
            </a:r>
            <a:r>
              <a:rPr lang="en-US" dirty="0"/>
              <a:t> variable can have up to </a:t>
            </a:r>
            <a:r>
              <a:rPr lang="en-US" b="1" dirty="0"/>
              <a:t>10 values</a:t>
            </a:r>
            <a:r>
              <a:rPr lang="en-US" dirty="0"/>
              <a:t> per tile:</a:t>
            </a:r>
            <a:endParaRPr lang="en-U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9420E8-B2BA-0B18-2545-2D0AB9BE7239}"/>
              </a:ext>
            </a:extLst>
          </p:cNvPr>
          <p:cNvSpPr/>
          <p:nvPr/>
        </p:nvSpPr>
        <p:spPr>
          <a:xfrm>
            <a:off x="400050" y="3461330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08B1F1-D2F9-9DA4-286A-E82093349985}"/>
              </a:ext>
            </a:extLst>
          </p:cNvPr>
          <p:cNvSpPr/>
          <p:nvPr/>
        </p:nvSpPr>
        <p:spPr>
          <a:xfrm>
            <a:off x="1016000" y="3461330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66CEDB-A231-9324-0238-6BD8290266C4}"/>
              </a:ext>
            </a:extLst>
          </p:cNvPr>
          <p:cNvSpPr/>
          <p:nvPr/>
        </p:nvSpPr>
        <p:spPr>
          <a:xfrm>
            <a:off x="1631950" y="3461330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6E4203-44E6-19A9-B658-17EB0DEC989F}"/>
              </a:ext>
            </a:extLst>
          </p:cNvPr>
          <p:cNvSpPr/>
          <p:nvPr/>
        </p:nvSpPr>
        <p:spPr>
          <a:xfrm>
            <a:off x="2247900" y="3461330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7305DA-CE4F-AC28-6403-FABB43999425}"/>
              </a:ext>
            </a:extLst>
          </p:cNvPr>
          <p:cNvSpPr/>
          <p:nvPr/>
        </p:nvSpPr>
        <p:spPr>
          <a:xfrm>
            <a:off x="2863850" y="3461330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46470B-261F-2F5F-576D-8211A63B6FF6}"/>
              </a:ext>
            </a:extLst>
          </p:cNvPr>
          <p:cNvSpPr/>
          <p:nvPr/>
        </p:nvSpPr>
        <p:spPr>
          <a:xfrm>
            <a:off x="3479800" y="3461330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1A3541-750C-F520-9703-E4D5ABE748E3}"/>
              </a:ext>
            </a:extLst>
          </p:cNvPr>
          <p:cNvSpPr/>
          <p:nvPr/>
        </p:nvSpPr>
        <p:spPr>
          <a:xfrm>
            <a:off x="4095750" y="3461330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76561A-A71D-2F2D-20E5-3A1D08FC1250}"/>
              </a:ext>
            </a:extLst>
          </p:cNvPr>
          <p:cNvSpPr txBox="1"/>
          <p:nvPr/>
        </p:nvSpPr>
        <p:spPr>
          <a:xfrm>
            <a:off x="336820" y="4419767"/>
            <a:ext cx="5997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hexadecimal</a:t>
            </a:r>
            <a:r>
              <a:rPr lang="en-US" dirty="0"/>
              <a:t> variable can have up to </a:t>
            </a:r>
            <a:r>
              <a:rPr lang="en-US" b="1" dirty="0"/>
              <a:t>16 values</a:t>
            </a:r>
            <a:r>
              <a:rPr lang="en-US" dirty="0"/>
              <a:t> per tile:</a:t>
            </a:r>
            <a:endParaRPr lang="en-US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687B88-9A0D-39F7-67A9-8DBAE6DDA101}"/>
              </a:ext>
            </a:extLst>
          </p:cNvPr>
          <p:cNvSpPr/>
          <p:nvPr/>
        </p:nvSpPr>
        <p:spPr>
          <a:xfrm>
            <a:off x="400050" y="4805834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FAD1B6-8B6E-07E1-98FE-E328BFAB1690}"/>
              </a:ext>
            </a:extLst>
          </p:cNvPr>
          <p:cNvSpPr/>
          <p:nvPr/>
        </p:nvSpPr>
        <p:spPr>
          <a:xfrm>
            <a:off x="1016000" y="4805834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AC7A3B-FA76-46D8-75D3-CE178F058413}"/>
              </a:ext>
            </a:extLst>
          </p:cNvPr>
          <p:cNvSpPr/>
          <p:nvPr/>
        </p:nvSpPr>
        <p:spPr>
          <a:xfrm>
            <a:off x="1631950" y="4805834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EB462C-F497-5071-EBCD-237808D3230A}"/>
              </a:ext>
            </a:extLst>
          </p:cNvPr>
          <p:cNvSpPr/>
          <p:nvPr/>
        </p:nvSpPr>
        <p:spPr>
          <a:xfrm>
            <a:off x="2247900" y="4805834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07660B-6D0A-9E73-FB9D-EFFD59651101}"/>
              </a:ext>
            </a:extLst>
          </p:cNvPr>
          <p:cNvSpPr/>
          <p:nvPr/>
        </p:nvSpPr>
        <p:spPr>
          <a:xfrm>
            <a:off x="2863850" y="4805834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9DAC09-83F7-5E8E-C4DD-ACCF6FBE3220}"/>
              </a:ext>
            </a:extLst>
          </p:cNvPr>
          <p:cNvSpPr/>
          <p:nvPr/>
        </p:nvSpPr>
        <p:spPr>
          <a:xfrm>
            <a:off x="3479800" y="4805834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A64D55-C8C5-1802-1131-F73456330945}"/>
              </a:ext>
            </a:extLst>
          </p:cNvPr>
          <p:cNvSpPr/>
          <p:nvPr/>
        </p:nvSpPr>
        <p:spPr>
          <a:xfrm>
            <a:off x="4095750" y="4805834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95C376-74B2-B507-C32A-7BB790D98311}"/>
              </a:ext>
            </a:extLst>
          </p:cNvPr>
          <p:cNvSpPr/>
          <p:nvPr/>
        </p:nvSpPr>
        <p:spPr>
          <a:xfrm>
            <a:off x="4711700" y="4805834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8C0E45-3F36-20A3-B22B-13AC55EA452E}"/>
              </a:ext>
            </a:extLst>
          </p:cNvPr>
          <p:cNvSpPr/>
          <p:nvPr/>
        </p:nvSpPr>
        <p:spPr>
          <a:xfrm>
            <a:off x="5327650" y="4805834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88BF88E-008B-7D2E-6729-85C00B7C6370}"/>
              </a:ext>
            </a:extLst>
          </p:cNvPr>
          <p:cNvSpPr/>
          <p:nvPr/>
        </p:nvSpPr>
        <p:spPr>
          <a:xfrm>
            <a:off x="5943600" y="4805834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7536471-8880-60D8-F47C-693F5942BB3F}"/>
              </a:ext>
            </a:extLst>
          </p:cNvPr>
          <p:cNvSpPr/>
          <p:nvPr/>
        </p:nvSpPr>
        <p:spPr>
          <a:xfrm>
            <a:off x="6559550" y="4805834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724197-A262-D477-F4D2-C253E9345FC0}"/>
              </a:ext>
            </a:extLst>
          </p:cNvPr>
          <p:cNvSpPr/>
          <p:nvPr/>
        </p:nvSpPr>
        <p:spPr>
          <a:xfrm>
            <a:off x="7175500" y="4805834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5CEDAF-9033-45F8-2C39-DEC482F3FDE5}"/>
              </a:ext>
            </a:extLst>
          </p:cNvPr>
          <p:cNvSpPr txBox="1"/>
          <p:nvPr/>
        </p:nvSpPr>
        <p:spPr>
          <a:xfrm>
            <a:off x="4800737" y="543851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402B88-5D5C-6C39-1466-F0E179645D48}"/>
              </a:ext>
            </a:extLst>
          </p:cNvPr>
          <p:cNvSpPr txBox="1"/>
          <p:nvPr/>
        </p:nvSpPr>
        <p:spPr>
          <a:xfrm>
            <a:off x="5419861" y="543851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841BAD-69B9-B80E-6254-A8B461A44FD1}"/>
              </a:ext>
            </a:extLst>
          </p:cNvPr>
          <p:cNvSpPr txBox="1"/>
          <p:nvPr/>
        </p:nvSpPr>
        <p:spPr>
          <a:xfrm>
            <a:off x="6058036" y="543851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A8DCCC6-401B-7CAE-AFA6-D892643C9618}"/>
              </a:ext>
            </a:extLst>
          </p:cNvPr>
          <p:cNvSpPr txBox="1"/>
          <p:nvPr/>
        </p:nvSpPr>
        <p:spPr>
          <a:xfrm>
            <a:off x="6651761" y="543851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504010-40A0-BF21-DABD-0E1FCBFB8978}"/>
              </a:ext>
            </a:extLst>
          </p:cNvPr>
          <p:cNvSpPr txBox="1"/>
          <p:nvPr/>
        </p:nvSpPr>
        <p:spPr>
          <a:xfrm>
            <a:off x="7267711" y="543851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E5BCF34-BBF1-7685-D126-9992E65F8129}"/>
              </a:ext>
            </a:extLst>
          </p:cNvPr>
          <p:cNvSpPr/>
          <p:nvPr/>
        </p:nvSpPr>
        <p:spPr>
          <a:xfrm>
            <a:off x="7791450" y="4805834"/>
            <a:ext cx="615950" cy="6159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C452F4-E445-C1D4-E62F-31D0D6413482}"/>
              </a:ext>
            </a:extLst>
          </p:cNvPr>
          <p:cNvSpPr txBox="1"/>
          <p:nvPr/>
        </p:nvSpPr>
        <p:spPr>
          <a:xfrm>
            <a:off x="7883661" y="543851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15</a:t>
            </a:r>
          </a:p>
        </p:txBody>
      </p:sp>
      <p:sp>
        <p:nvSpPr>
          <p:cNvPr id="2052" name="TextBox 2051">
            <a:extLst>
              <a:ext uri="{FF2B5EF4-FFF2-40B4-BE49-F238E27FC236}">
                <a16:creationId xmlns:a16="http://schemas.microsoft.com/office/drawing/2014/main" id="{A96E6D9A-986B-6BA9-49C0-28076AA46029}"/>
              </a:ext>
            </a:extLst>
          </p:cNvPr>
          <p:cNvSpPr txBox="1"/>
          <p:nvPr/>
        </p:nvSpPr>
        <p:spPr>
          <a:xfrm>
            <a:off x="6705415" y="1398675"/>
            <a:ext cx="393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octet </a:t>
            </a:r>
            <a:r>
              <a:rPr lang="en-US" dirty="0"/>
              <a:t>is a set of 8 bits put together.</a:t>
            </a:r>
            <a:endParaRPr lang="en-US" b="1" dirty="0"/>
          </a:p>
        </p:txBody>
      </p:sp>
      <p:sp>
        <p:nvSpPr>
          <p:cNvPr id="2054" name="TextBox 2053">
            <a:extLst>
              <a:ext uri="{FF2B5EF4-FFF2-40B4-BE49-F238E27FC236}">
                <a16:creationId xmlns:a16="http://schemas.microsoft.com/office/drawing/2014/main" id="{C6C3D1E2-BE32-2295-4F7D-0E274C0DF7C2}"/>
              </a:ext>
            </a:extLst>
          </p:cNvPr>
          <p:cNvSpPr txBox="1"/>
          <p:nvPr/>
        </p:nvSpPr>
        <p:spPr>
          <a:xfrm>
            <a:off x="6705415" y="2098782"/>
            <a:ext cx="5133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kilo-octet</a:t>
            </a:r>
            <a:r>
              <a:rPr lang="en-US" dirty="0"/>
              <a:t> (ko) is NOT the same as a </a:t>
            </a:r>
            <a:r>
              <a:rPr lang="en-US" b="1" dirty="0"/>
              <a:t>kilo-bit</a:t>
            </a:r>
            <a:r>
              <a:rPr lang="en-US" dirty="0"/>
              <a:t> (kb)</a:t>
            </a:r>
            <a:endParaRPr lang="en-US" b="1" dirty="0"/>
          </a:p>
        </p:txBody>
      </p:sp>
      <p:cxnSp>
        <p:nvCxnSpPr>
          <p:cNvPr id="2056" name="Straight Arrow Connector 2055">
            <a:extLst>
              <a:ext uri="{FF2B5EF4-FFF2-40B4-BE49-F238E27FC236}">
                <a16:creationId xmlns:a16="http://schemas.microsoft.com/office/drawing/2014/main" id="{DFE754E2-DBF8-356B-C0FB-412B0A35D999}"/>
              </a:ext>
            </a:extLst>
          </p:cNvPr>
          <p:cNvCxnSpPr>
            <a:endCxn id="2052" idx="1"/>
          </p:cNvCxnSpPr>
          <p:nvPr/>
        </p:nvCxnSpPr>
        <p:spPr>
          <a:xfrm flipV="1">
            <a:off x="5090160" y="1583341"/>
            <a:ext cx="1615255" cy="391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9" name="Straight Arrow Connector 2058">
            <a:extLst>
              <a:ext uri="{FF2B5EF4-FFF2-40B4-BE49-F238E27FC236}">
                <a16:creationId xmlns:a16="http://schemas.microsoft.com/office/drawing/2014/main" id="{DBAD66B2-3802-7B1F-A2B3-C8D66CFF7B80}"/>
              </a:ext>
            </a:extLst>
          </p:cNvPr>
          <p:cNvCxnSpPr>
            <a:cxnSpLocks/>
            <a:endCxn id="2054" idx="1"/>
          </p:cNvCxnSpPr>
          <p:nvPr/>
        </p:nvCxnSpPr>
        <p:spPr>
          <a:xfrm>
            <a:off x="5090160" y="2110494"/>
            <a:ext cx="1615255" cy="1729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19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A3896-DC92-1E3F-632B-350AF8E27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752BD92-4684-379C-7461-09665DB08EFC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Introduction to Data and Variables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Learn how to declare, initialize, and use variables in simple programs.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7E69B15-0F69-868F-3C8D-0582B69253DD}"/>
              </a:ext>
            </a:extLst>
          </p:cNvPr>
          <p:cNvSpPr/>
          <p:nvPr/>
        </p:nvSpPr>
        <p:spPr>
          <a:xfrm>
            <a:off x="150718" y="348876"/>
            <a:ext cx="28655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Variables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7D8768-AC35-31AD-8AA5-2F852A302A8F}"/>
              </a:ext>
            </a:extLst>
          </p:cNvPr>
          <p:cNvSpPr/>
          <p:nvPr/>
        </p:nvSpPr>
        <p:spPr>
          <a:xfrm>
            <a:off x="3459068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Binary calculations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88BD12-351D-4781-1BE1-DA7336BFD80D}"/>
              </a:ext>
            </a:extLst>
          </p:cNvPr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id="{3A4D43FB-562D-B1A6-C2AB-604B5F525E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63"/>
          <a:stretch>
            <a:fillRect/>
          </a:stretch>
        </p:blipFill>
        <p:spPr bwMode="auto">
          <a:xfrm>
            <a:off x="4136952" y="956410"/>
            <a:ext cx="5138832" cy="5901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642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F1F93-CADA-5591-613A-FCD1D5219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098A415-FEB3-699F-F055-F67FDD900DA7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Introduction to Data and Variables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Learn how to declare, initialize, and use variables in simple programs.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0DA73C3-5D23-32C1-BD72-E02DA22CC059}"/>
              </a:ext>
            </a:extLst>
          </p:cNvPr>
          <p:cNvSpPr/>
          <p:nvPr/>
        </p:nvSpPr>
        <p:spPr>
          <a:xfrm>
            <a:off x="150718" y="348876"/>
            <a:ext cx="28655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Variables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635D66E-23F7-9D68-C33D-7495905E2464}"/>
              </a:ext>
            </a:extLst>
          </p:cNvPr>
          <p:cNvSpPr/>
          <p:nvPr/>
        </p:nvSpPr>
        <p:spPr>
          <a:xfrm>
            <a:off x="3459068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Binary calculations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D829F4-3219-004B-A2BD-A0E0C1F5BE8A}"/>
              </a:ext>
            </a:extLst>
          </p:cNvPr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3491693C-4F02-5B19-5D05-84E9D562F7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8"/>
          <a:stretch>
            <a:fillRect/>
          </a:stretch>
        </p:blipFill>
        <p:spPr bwMode="auto">
          <a:xfrm>
            <a:off x="250422" y="969988"/>
            <a:ext cx="4983480" cy="573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78" name="Picture 2">
            <a:extLst>
              <a:ext uri="{FF2B5EF4-FFF2-40B4-BE49-F238E27FC236}">
                <a16:creationId xmlns:a16="http://schemas.microsoft.com/office/drawing/2014/main" id="{15AF0B96-84C8-B3BE-D0FD-B708F3C5CA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73"/>
          <a:stretch>
            <a:fillRect/>
          </a:stretch>
        </p:blipFill>
        <p:spPr bwMode="auto">
          <a:xfrm>
            <a:off x="6493523" y="909028"/>
            <a:ext cx="4946418" cy="573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023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D81A7-7B25-2144-B105-7B4947E07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E106917-AFE8-ADB3-1DAC-AAAA1B646D61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Introduction to Data and Variables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Learn how to declare, initialize, and use variables in simple programs.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70DCD49-04DD-DBEE-4836-702E5FDEDF1C}"/>
              </a:ext>
            </a:extLst>
          </p:cNvPr>
          <p:cNvSpPr/>
          <p:nvPr/>
        </p:nvSpPr>
        <p:spPr>
          <a:xfrm>
            <a:off x="150718" y="348876"/>
            <a:ext cx="28655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Variables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0BAFEC3-0048-A2C1-E358-A1012FF85AB9}"/>
              </a:ext>
            </a:extLst>
          </p:cNvPr>
          <p:cNvSpPr/>
          <p:nvPr/>
        </p:nvSpPr>
        <p:spPr>
          <a:xfrm>
            <a:off x="3459068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Binary calculations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46E95B-C7D0-C4CB-1D30-E3C81FD5502E}"/>
              </a:ext>
            </a:extLst>
          </p:cNvPr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95DBA9EF-40B8-9825-02DC-07D42DD35C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59"/>
          <a:stretch>
            <a:fillRect/>
          </a:stretch>
        </p:blipFill>
        <p:spPr bwMode="auto">
          <a:xfrm>
            <a:off x="6972300" y="960738"/>
            <a:ext cx="5057458" cy="5828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8" name="Picture 6">
            <a:extLst>
              <a:ext uri="{FF2B5EF4-FFF2-40B4-BE49-F238E27FC236}">
                <a16:creationId xmlns:a16="http://schemas.microsoft.com/office/drawing/2014/main" id="{75DD0112-A2C4-169A-E965-80DB5845EE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06"/>
          <a:stretch>
            <a:fillRect/>
          </a:stretch>
        </p:blipFill>
        <p:spPr bwMode="auto">
          <a:xfrm>
            <a:off x="1038542" y="977067"/>
            <a:ext cx="5057458" cy="581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2486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6CCE3-0029-5524-E49E-225FF05FB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11E4B30-703A-4D08-2AB8-8337D1BC8ACF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Introduction to Data and Variables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Learn how to declare, initialize, and use variables in simple programs.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E65A9A1-0756-6C1B-2584-DC69647F9396}"/>
              </a:ext>
            </a:extLst>
          </p:cNvPr>
          <p:cNvSpPr/>
          <p:nvPr/>
        </p:nvSpPr>
        <p:spPr>
          <a:xfrm>
            <a:off x="150718" y="348876"/>
            <a:ext cx="28655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Variables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E41EAFA-208D-85E5-7994-E9F3A238DEA6}"/>
              </a:ext>
            </a:extLst>
          </p:cNvPr>
          <p:cNvSpPr/>
          <p:nvPr/>
        </p:nvSpPr>
        <p:spPr>
          <a:xfrm>
            <a:off x="3459068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A “bit” of memory…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41161A-9421-235B-3619-EBE8D21A06D8}"/>
              </a:ext>
            </a:extLst>
          </p:cNvPr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D855E48-5049-22DC-E8B1-E1164CC55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03" y="1084032"/>
            <a:ext cx="4235997" cy="532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081905FF-8A87-CBE0-5E27-68A05EB7A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1768475"/>
            <a:ext cx="6741072" cy="393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851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44316-28BC-95C9-A195-874227C0D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B65B611-550F-33FE-D3CD-0DE0273447B3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Introduction to Data and Variables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Learn how to declare, initialize, and use variables in simple programs.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B16476-FF2B-91E8-FE5F-76958F13644D}"/>
              </a:ext>
            </a:extLst>
          </p:cNvPr>
          <p:cNvSpPr/>
          <p:nvPr/>
        </p:nvSpPr>
        <p:spPr>
          <a:xfrm>
            <a:off x="150718" y="348876"/>
            <a:ext cx="28655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Variables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C8056D-AC64-0789-8111-3A9B6EB33ADF}"/>
              </a:ext>
            </a:extLst>
          </p:cNvPr>
          <p:cNvSpPr/>
          <p:nvPr/>
        </p:nvSpPr>
        <p:spPr>
          <a:xfrm>
            <a:off x="3459068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Complete data types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A6765E-DEA2-B0FB-374F-8958F9AC8FF4}"/>
              </a:ext>
            </a:extLst>
          </p:cNvPr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DBEDCF-CF5B-DD7F-E988-6BEC7F482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684" y="990475"/>
            <a:ext cx="9576632" cy="548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637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F6830-6231-3F26-7644-7B3DD6C4A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E25807E-A424-9121-8101-C4BA40E6D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030277"/>
              </p:ext>
            </p:extLst>
          </p:nvPr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Introduction to Data and Variables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Learn how to declare, initialize, and use variables in simple programs.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C30D31-057D-CF57-6D71-FD7F17BF267D}"/>
              </a:ext>
            </a:extLst>
          </p:cNvPr>
          <p:cNvSpPr/>
          <p:nvPr/>
        </p:nvSpPr>
        <p:spPr>
          <a:xfrm>
            <a:off x="150718" y="348876"/>
            <a:ext cx="28655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Variables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076CBB-1589-E97B-4262-A4AAC82EB0B9}"/>
              </a:ext>
            </a:extLst>
          </p:cNvPr>
          <p:cNvSpPr/>
          <p:nvPr/>
        </p:nvSpPr>
        <p:spPr>
          <a:xfrm>
            <a:off x="3459068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Range &amp; bit precision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D5AF06-D723-CEDA-E28B-E75DC165FB85}"/>
              </a:ext>
            </a:extLst>
          </p:cNvPr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FC836B-6456-2149-3C2C-0A851A8CAA41}"/>
              </a:ext>
            </a:extLst>
          </p:cNvPr>
          <p:cNvSpPr txBox="1"/>
          <p:nvPr/>
        </p:nvSpPr>
        <p:spPr>
          <a:xfrm>
            <a:off x="9855612" y="2926604"/>
            <a:ext cx="225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this function to know how much bits are attributed to each variables.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9B93319-58E7-9ABA-F945-53B37469E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766" y="5933301"/>
            <a:ext cx="2316423" cy="33795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44A0850-6EDE-D51D-B969-4922F2A71C32}"/>
              </a:ext>
            </a:extLst>
          </p:cNvPr>
          <p:cNvSpPr txBox="1"/>
          <p:nvPr/>
        </p:nvSpPr>
        <p:spPr>
          <a:xfrm>
            <a:off x="7564848" y="1890974"/>
            <a:ext cx="4546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number of bit depends on your OS architecture! (32 bits – 64 bits)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436B1D7-732C-FEC5-3661-B20727B4A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11" y="5404183"/>
            <a:ext cx="4546285" cy="39685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3710965-CCE1-B244-C448-A8D62EE6F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06" y="3239213"/>
            <a:ext cx="1743318" cy="40963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3CD287B-D0D9-EA51-3394-9938D558D1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0426"/>
          <a:stretch>
            <a:fillRect/>
          </a:stretch>
        </p:blipFill>
        <p:spPr>
          <a:xfrm>
            <a:off x="251904" y="906655"/>
            <a:ext cx="6662836" cy="5484381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C72EEB9-096D-B976-F6E1-D6CBD10AF7D9}"/>
              </a:ext>
            </a:extLst>
          </p:cNvPr>
          <p:cNvSpPr/>
          <p:nvPr/>
        </p:nvSpPr>
        <p:spPr>
          <a:xfrm>
            <a:off x="7564848" y="1413457"/>
            <a:ext cx="386515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Bit attribution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3EC58B-E0E3-E43C-307A-73A0A1F814C7}"/>
              </a:ext>
            </a:extLst>
          </p:cNvPr>
          <p:cNvSpPr txBox="1"/>
          <p:nvPr/>
        </p:nvSpPr>
        <p:spPr>
          <a:xfrm>
            <a:off x="7393811" y="4976328"/>
            <a:ext cx="225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/>
              <a:t>Example: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917049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4FD67-C219-B718-849B-57A0240C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21EE32F-14AC-8FEE-6B61-7694359D0D65}"/>
              </a:ext>
            </a:extLst>
          </p:cNvPr>
          <p:cNvSpPr/>
          <p:nvPr/>
        </p:nvSpPr>
        <p:spPr>
          <a:xfrm>
            <a:off x="150718" y="348876"/>
            <a:ext cx="28655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Variables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063AB86-DD71-E19B-DDD6-EE4B7A2CC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389265"/>
              </p:ext>
            </p:extLst>
          </p:nvPr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Introduction to Data and Variables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Learn how to declare, initialize, and use variables in simple programs.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C4C0A3-B1C5-6B46-57DD-B7B24FBD9A2C}"/>
              </a:ext>
            </a:extLst>
          </p:cNvPr>
          <p:cNvSpPr/>
          <p:nvPr/>
        </p:nvSpPr>
        <p:spPr>
          <a:xfrm>
            <a:off x="3459068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Naming convention in C (1/2)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73F82-723B-6597-4948-8C4ED868E387}"/>
              </a:ext>
            </a:extLst>
          </p:cNvPr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479C3B-1FBA-32FD-51F4-1930CD74C0F5}"/>
              </a:ext>
            </a:extLst>
          </p:cNvPr>
          <p:cNvSpPr/>
          <p:nvPr/>
        </p:nvSpPr>
        <p:spPr>
          <a:xfrm>
            <a:off x="1496023" y="1609367"/>
            <a:ext cx="9199954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5 RULES!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EF003E-6CDA-ACB4-EE88-A6EE1CCDEA3B}"/>
              </a:ext>
            </a:extLst>
          </p:cNvPr>
          <p:cNvSpPr txBox="1"/>
          <p:nvPr/>
        </p:nvSpPr>
        <p:spPr>
          <a:xfrm>
            <a:off x="1496023" y="2054715"/>
            <a:ext cx="91999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noProof="0" dirty="0"/>
              <a:t>Restricted to </a:t>
            </a:r>
            <a:r>
              <a:rPr lang="en-US" b="1" noProof="0" dirty="0"/>
              <a:t>letters</a:t>
            </a:r>
            <a:r>
              <a:rPr lang="en-US" noProof="0" dirty="0"/>
              <a:t>, </a:t>
            </a:r>
            <a:r>
              <a:rPr lang="en-US" b="1" noProof="0" dirty="0"/>
              <a:t>digits</a:t>
            </a:r>
            <a:r>
              <a:rPr lang="en-US" noProof="0" dirty="0"/>
              <a:t> and </a:t>
            </a:r>
            <a:r>
              <a:rPr lang="en-US" b="1" noProof="0" dirty="0"/>
              <a:t>underscore</a:t>
            </a:r>
            <a:r>
              <a:rPr lang="en-US" noProof="0" dirty="0"/>
              <a:t> ("_")		</a:t>
            </a:r>
            <a:r>
              <a:rPr lang="en-US" noProof="0" dirty="0" err="1">
                <a:solidFill>
                  <a:schemeClr val="accent2">
                    <a:lumMod val="50000"/>
                  </a:schemeClr>
                </a:solidFill>
              </a:rPr>
              <a:t>hello_world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</a:rPr>
              <a:t>helloWorld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...</a:t>
            </a:r>
            <a:endParaRPr lang="en-US" noProof="0" dirty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US" noProof="0" dirty="0"/>
              <a:t>Must </a:t>
            </a:r>
            <a:r>
              <a:rPr lang="en-US" b="1" noProof="0" dirty="0"/>
              <a:t>NOT starts </a:t>
            </a:r>
            <a:r>
              <a:rPr lang="en-US" noProof="0" dirty="0"/>
              <a:t>by a </a:t>
            </a:r>
            <a:r>
              <a:rPr lang="en-US" b="1" noProof="0" dirty="0"/>
              <a:t>digit				</a:t>
            </a:r>
            <a:r>
              <a:rPr lang="en-US" noProof="0" dirty="0">
                <a:solidFill>
                  <a:schemeClr val="accent2">
                    <a:lumMod val="50000"/>
                  </a:schemeClr>
                </a:solidFill>
              </a:rPr>
              <a:t>1dog, 2dog …</a:t>
            </a:r>
          </a:p>
          <a:p>
            <a:pPr marL="342900" indent="-342900">
              <a:buAutoNum type="arabicPeriod"/>
            </a:pPr>
            <a:r>
              <a:rPr lang="en-US" dirty="0"/>
              <a:t>“Case-sensitive”: watch out for </a:t>
            </a:r>
            <a:r>
              <a:rPr lang="en-US" b="1" dirty="0"/>
              <a:t>capitalized</a:t>
            </a:r>
            <a:r>
              <a:rPr lang="en-US" dirty="0"/>
              <a:t> letters 		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u="sng" dirty="0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core =/= </a:t>
            </a:r>
            <a:r>
              <a:rPr lang="en-US" u="sng" dirty="0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core)</a:t>
            </a:r>
          </a:p>
          <a:p>
            <a:pPr marL="342900" indent="-342900">
              <a:buAutoNum type="arabicPeriod"/>
            </a:pPr>
            <a:r>
              <a:rPr lang="en-US" noProof="0" dirty="0"/>
              <a:t>Don’t use </a:t>
            </a:r>
            <a:r>
              <a:rPr lang="en-US" b="1" dirty="0"/>
              <a:t>keywords</a:t>
            </a:r>
            <a:r>
              <a:rPr lang="en-US" dirty="0"/>
              <a:t> from C 				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int, return …</a:t>
            </a:r>
          </a:p>
          <a:p>
            <a:pPr marL="342900" indent="-342900">
              <a:buAutoNum type="arabicPeriod"/>
            </a:pPr>
            <a:r>
              <a:rPr lang="en-US" noProof="0" dirty="0"/>
              <a:t>Keep it </a:t>
            </a:r>
            <a:r>
              <a:rPr lang="en-US" b="1" noProof="0" dirty="0"/>
              <a:t>short</a:t>
            </a:r>
            <a:r>
              <a:rPr lang="en-US" noProof="0" dirty="0"/>
              <a:t> and concise (maximum 31 letters)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EA3DE5A-1F91-1DC8-E955-1A6E8124DCC0}"/>
              </a:ext>
            </a:extLst>
          </p:cNvPr>
          <p:cNvSpPr/>
          <p:nvPr/>
        </p:nvSpPr>
        <p:spPr>
          <a:xfrm>
            <a:off x="3199751" y="4748863"/>
            <a:ext cx="5727700" cy="1278850"/>
          </a:xfrm>
          <a:prstGeom prst="roundRect">
            <a:avLst>
              <a:gd name="adj" fmla="val 88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C1CF75E-8097-FBD4-96F6-E9E2556A17B9}"/>
              </a:ext>
            </a:extLst>
          </p:cNvPr>
          <p:cNvSpPr/>
          <p:nvPr/>
        </p:nvSpPr>
        <p:spPr>
          <a:xfrm>
            <a:off x="4739434" y="4276388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Constant variables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ADC66C-8AA1-B882-D402-FA76632E85D9}"/>
              </a:ext>
            </a:extLst>
          </p:cNvPr>
          <p:cNvSpPr txBox="1"/>
          <p:nvPr/>
        </p:nvSpPr>
        <p:spPr>
          <a:xfrm>
            <a:off x="3251596" y="4787061"/>
            <a:ext cx="5624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 in </a:t>
            </a:r>
            <a:r>
              <a:rPr lang="fr-FR" b="1" dirty="0"/>
              <a:t>ALL_CAPS_WITH_UNDERSCORES</a:t>
            </a:r>
            <a:r>
              <a:rPr lang="fr-FR" dirty="0"/>
              <a:t>.</a:t>
            </a:r>
          </a:p>
          <a:p>
            <a:endParaRPr lang="en-US" b="1" dirty="0">
              <a:solidFill>
                <a:schemeClr val="accent3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F445731-E4F9-6223-1623-0A5BE1CF9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447" y="5194301"/>
            <a:ext cx="2994267" cy="69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00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AEBF1-B4A9-E8C9-2E7B-392B2D9D3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E04B5E-04CF-2C85-320E-96987FD2F84F}"/>
              </a:ext>
            </a:extLst>
          </p:cNvPr>
          <p:cNvSpPr/>
          <p:nvPr/>
        </p:nvSpPr>
        <p:spPr>
          <a:xfrm>
            <a:off x="150718" y="348876"/>
            <a:ext cx="28655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Variables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5FEBE82-F9BD-060D-5E4E-8BC8C4C45F47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Introduction to Data and Variables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Understand what data is in programming and how C stores it using variables. </a:t>
                      </a:r>
                      <a:br>
                        <a:rPr lang="en-US" sz="1100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Learn how to declare, initialize, and use variables in simple programs.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DB94269-0DD3-3219-1F3B-9303A4E8BB16}"/>
              </a:ext>
            </a:extLst>
          </p:cNvPr>
          <p:cNvSpPr/>
          <p:nvPr/>
        </p:nvSpPr>
        <p:spPr>
          <a:xfrm>
            <a:off x="3459068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Naming convention in C (2/2)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44A12E-3487-09D3-A4C9-040937C031EF}"/>
              </a:ext>
            </a:extLst>
          </p:cNvPr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4D67E3-E9ED-1D4E-B4B3-2685D956F724}"/>
              </a:ext>
            </a:extLst>
          </p:cNvPr>
          <p:cNvSpPr/>
          <p:nvPr/>
        </p:nvSpPr>
        <p:spPr>
          <a:xfrm>
            <a:off x="271368" y="2578880"/>
            <a:ext cx="2452782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camelCase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C97C37-3718-1BF6-D56B-F971ABEE0362}"/>
              </a:ext>
            </a:extLst>
          </p:cNvPr>
          <p:cNvSpPr txBox="1"/>
          <p:nvPr/>
        </p:nvSpPr>
        <p:spPr>
          <a:xfrm>
            <a:off x="271368" y="3119005"/>
            <a:ext cx="24018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userName</a:t>
            </a:r>
            <a:endParaRPr lang="en-US" dirty="0"/>
          </a:p>
          <a:p>
            <a:r>
              <a:rPr lang="en-US" dirty="0" err="1"/>
              <a:t>totalPrice</a:t>
            </a:r>
            <a:endParaRPr lang="en-US" dirty="0"/>
          </a:p>
          <a:p>
            <a:r>
              <a:rPr lang="en-US" dirty="0" err="1"/>
              <a:t>fishDistributionResult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41E0E7F-FA89-5D13-915D-1D3C0756D941}"/>
              </a:ext>
            </a:extLst>
          </p:cNvPr>
          <p:cNvSpPr/>
          <p:nvPr/>
        </p:nvSpPr>
        <p:spPr>
          <a:xfrm>
            <a:off x="3274918" y="2578880"/>
            <a:ext cx="2452782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snake_case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CC2137-0885-569C-9A6A-BF172DCC295C}"/>
              </a:ext>
            </a:extLst>
          </p:cNvPr>
          <p:cNvSpPr txBox="1"/>
          <p:nvPr/>
        </p:nvSpPr>
        <p:spPr>
          <a:xfrm>
            <a:off x="3274918" y="3119005"/>
            <a:ext cx="24724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user_name</a:t>
            </a:r>
            <a:endParaRPr lang="en-US" dirty="0"/>
          </a:p>
          <a:p>
            <a:r>
              <a:rPr lang="en-US" dirty="0" err="1"/>
              <a:t>total_price</a:t>
            </a:r>
            <a:endParaRPr lang="en-US" dirty="0"/>
          </a:p>
          <a:p>
            <a:r>
              <a:rPr lang="en-US" dirty="0" err="1"/>
              <a:t>fish_distribution_result</a:t>
            </a:r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FC840DC-B2D2-9750-683E-5A827840E689}"/>
              </a:ext>
            </a:extLst>
          </p:cNvPr>
          <p:cNvSpPr/>
          <p:nvPr/>
        </p:nvSpPr>
        <p:spPr>
          <a:xfrm>
            <a:off x="190906" y="2401455"/>
            <a:ext cx="5727700" cy="1784724"/>
          </a:xfrm>
          <a:prstGeom prst="roundRect">
            <a:avLst>
              <a:gd name="adj" fmla="val 88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5662450-5395-F16E-F247-6B407404586D}"/>
              </a:ext>
            </a:extLst>
          </p:cNvPr>
          <p:cNvSpPr/>
          <p:nvPr/>
        </p:nvSpPr>
        <p:spPr>
          <a:xfrm>
            <a:off x="240024" y="1888279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Naming convention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A6E7738-219A-A148-C769-B6601A9E92B0}"/>
              </a:ext>
            </a:extLst>
          </p:cNvPr>
          <p:cNvCxnSpPr/>
          <p:nvPr/>
        </p:nvCxnSpPr>
        <p:spPr>
          <a:xfrm>
            <a:off x="3000183" y="2578880"/>
            <a:ext cx="0" cy="14634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49A3D12-56A3-3CD5-4EFA-BA7BE19BC031}"/>
              </a:ext>
            </a:extLst>
          </p:cNvPr>
          <p:cNvSpPr txBox="1"/>
          <p:nvPr/>
        </p:nvSpPr>
        <p:spPr>
          <a:xfrm>
            <a:off x="6330695" y="4089814"/>
            <a:ext cx="56240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variable name must be as indicative as possible, so that everyone know how and why to use your variables.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farenhS1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b="1" dirty="0">
                <a:solidFill>
                  <a:schemeClr val="accent3"/>
                </a:solidFill>
                <a:sym typeface="Wingdings" panose="05000000000000000000" pitchFamily="2" charset="2"/>
              </a:rPr>
              <a:t>sensorFarenheit_1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0DB30B3-E9BC-3F73-6CF0-6C4227128EFD}"/>
              </a:ext>
            </a:extLst>
          </p:cNvPr>
          <p:cNvSpPr/>
          <p:nvPr/>
        </p:nvSpPr>
        <p:spPr>
          <a:xfrm>
            <a:off x="6281577" y="4011293"/>
            <a:ext cx="5727700" cy="1278850"/>
          </a:xfrm>
          <a:prstGeom prst="roundRect">
            <a:avLst>
              <a:gd name="adj" fmla="val 88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19C2981-B8C4-546A-9403-798E9B88C317}"/>
              </a:ext>
            </a:extLst>
          </p:cNvPr>
          <p:cNvSpPr/>
          <p:nvPr/>
        </p:nvSpPr>
        <p:spPr>
          <a:xfrm>
            <a:off x="9191817" y="3496556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Name them CLEARLY</a:t>
            </a:r>
          </a:p>
        </p:txBody>
      </p:sp>
    </p:spTree>
    <p:extLst>
      <p:ext uri="{BB962C8B-B14F-4D97-AF65-F5344CB8AC3E}">
        <p14:creationId xmlns:p14="http://schemas.microsoft.com/office/powerpoint/2010/main" val="3901533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1A736-0318-3C17-718F-4881A59D8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84D26A-B55F-8BAF-DED1-AAFAB50E09A4}"/>
              </a:ext>
            </a:extLst>
          </p:cNvPr>
          <p:cNvSpPr/>
          <p:nvPr/>
        </p:nvSpPr>
        <p:spPr>
          <a:xfrm>
            <a:off x="150718" y="348876"/>
            <a:ext cx="28655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Constants &amp; Literals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910751C-67FD-E0C4-927C-EBD080489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357248"/>
              </p:ext>
            </p:extLst>
          </p:nvPr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</a:t>
                      </a:r>
                      <a:r>
                        <a:rPr lang="fr-FR" sz="1100" dirty="0"/>
                        <a:t>Constants and </a:t>
                      </a:r>
                      <a:r>
                        <a:rPr lang="fr-FR" sz="1100" dirty="0" err="1"/>
                        <a:t>Literals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Learn how to represent fixed values in programs and prevent changes to important data using constants.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194499-461F-E870-3B62-1B43C5F7EBE6}"/>
              </a:ext>
            </a:extLst>
          </p:cNvPr>
          <p:cNvSpPr/>
          <p:nvPr/>
        </p:nvSpPr>
        <p:spPr>
          <a:xfrm>
            <a:off x="3459068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/>
              <a:t>"const"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033AB-4B49-5F03-ADD2-BC8BC4AA66A9}"/>
              </a:ext>
            </a:extLst>
          </p:cNvPr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368247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19A68-B55B-EB18-8A67-25DDC5E6C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C32623-120A-4B86-9C47-01E7C05D08CC}"/>
              </a:ext>
            </a:extLst>
          </p:cNvPr>
          <p:cNvSpPr/>
          <p:nvPr/>
        </p:nvSpPr>
        <p:spPr>
          <a:xfrm>
            <a:off x="150718" y="348876"/>
            <a:ext cx="28655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Constants &amp; Literals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16260F-CCD5-A594-E6BE-5520E07D0069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</a:t>
                      </a:r>
                      <a:r>
                        <a:rPr lang="fr-FR" sz="1100" dirty="0"/>
                        <a:t>Constants and </a:t>
                      </a:r>
                      <a:r>
                        <a:rPr lang="fr-FR" sz="1100" dirty="0" err="1"/>
                        <a:t>Literals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Learn how to represent fixed values in programs and prevent changes to important data using constants.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5C077E-697D-27E1-4F37-E7FF6F372242}"/>
              </a:ext>
            </a:extLst>
          </p:cNvPr>
          <p:cNvSpPr/>
          <p:nvPr/>
        </p:nvSpPr>
        <p:spPr>
          <a:xfrm>
            <a:off x="3459068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</a:t>
            </a:r>
            <a:r>
              <a:rPr lang="fr-FR" sz="1600" dirty="0"/>
              <a:t>#define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D9721-63E9-59AB-F3BE-D886DD3BA45B}"/>
              </a:ext>
            </a:extLst>
          </p:cNvPr>
          <p:cNvSpPr txBox="1"/>
          <p:nvPr/>
        </p:nvSpPr>
        <p:spPr>
          <a:xfrm>
            <a:off x="3054756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720107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C722D-0DE8-CE47-B360-20E18ACD8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8D6A0A-F7C5-FD63-3356-C339D598369F}"/>
              </a:ext>
            </a:extLst>
          </p:cNvPr>
          <p:cNvSpPr/>
          <p:nvPr/>
        </p:nvSpPr>
        <p:spPr>
          <a:xfrm>
            <a:off x="150718" y="348876"/>
            <a:ext cx="306492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Operators and Expressions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539626A-EB3A-15B5-6BB4-370294C52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90942"/>
              </p:ext>
            </p:extLst>
          </p:nvPr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</a:t>
                      </a:r>
                      <a:r>
                        <a:rPr lang="fr-FR" sz="1100" dirty="0" err="1"/>
                        <a:t>Operators</a:t>
                      </a:r>
                      <a:r>
                        <a:rPr lang="fr-FR" sz="1100" dirty="0"/>
                        <a:t> and Expressions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Master the symbols that let you perform calculations and comparisons. Understand how C evaluates expressions.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26D69FA-7076-DEB8-CAAA-24FDA6E25804}"/>
              </a:ext>
            </a:extLst>
          </p:cNvPr>
          <p:cNvSpPr/>
          <p:nvPr/>
        </p:nvSpPr>
        <p:spPr>
          <a:xfrm>
            <a:off x="3581446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600" dirty="0" err="1"/>
              <a:t>Arithmetic</a:t>
            </a:r>
            <a:r>
              <a:rPr lang="fr-FR" sz="1600" dirty="0"/>
              <a:t> </a:t>
            </a:r>
            <a:r>
              <a:rPr lang="fr-FR" sz="1600" dirty="0" err="1"/>
              <a:t>operators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DD1CE6-1CC8-E2A2-1252-BD9F50AEDD37}"/>
              </a:ext>
            </a:extLst>
          </p:cNvPr>
          <p:cNvSpPr txBox="1"/>
          <p:nvPr/>
        </p:nvSpPr>
        <p:spPr>
          <a:xfrm>
            <a:off x="3215640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642B08-9801-25FD-8A33-F94EF12E3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60" y="1037891"/>
            <a:ext cx="11498280" cy="47822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E7C603-1997-4460-3CDA-A2DA605591EE}"/>
              </a:ext>
            </a:extLst>
          </p:cNvPr>
          <p:cNvSpPr/>
          <p:nvPr/>
        </p:nvSpPr>
        <p:spPr>
          <a:xfrm>
            <a:off x="472440" y="6027420"/>
            <a:ext cx="1584960" cy="3124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D01E3F-3FAB-784F-5C73-D6526AF76695}"/>
              </a:ext>
            </a:extLst>
          </p:cNvPr>
          <p:cNvSpPr txBox="1"/>
          <p:nvPr/>
        </p:nvSpPr>
        <p:spPr>
          <a:xfrm>
            <a:off x="390732" y="6370625"/>
            <a:ext cx="6015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can use “</a:t>
            </a:r>
            <a:r>
              <a:rPr lang="en-US" b="1" dirty="0"/>
              <a:t>++</a:t>
            </a:r>
            <a:r>
              <a:rPr lang="en-US" dirty="0"/>
              <a:t>” and “</a:t>
            </a:r>
            <a:r>
              <a:rPr lang="en-US" b="1" dirty="0"/>
              <a:t>--</a:t>
            </a:r>
            <a:r>
              <a:rPr lang="en-US" dirty="0"/>
              <a:t>” to update a value with +/- 1 easily.</a:t>
            </a:r>
          </a:p>
        </p:txBody>
      </p:sp>
    </p:spTree>
    <p:extLst>
      <p:ext uri="{BB962C8B-B14F-4D97-AF65-F5344CB8AC3E}">
        <p14:creationId xmlns:p14="http://schemas.microsoft.com/office/powerpoint/2010/main" val="1440106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EEEB5-833A-9A78-F60D-2911E9FE2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64019A-CBCE-10C5-484D-91803CD0993A}"/>
              </a:ext>
            </a:extLst>
          </p:cNvPr>
          <p:cNvSpPr/>
          <p:nvPr/>
        </p:nvSpPr>
        <p:spPr>
          <a:xfrm>
            <a:off x="150718" y="348876"/>
            <a:ext cx="306492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Operators and Expressions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1F6E7A8-BA44-2792-2258-7DB5E57344C1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</a:t>
                      </a:r>
                      <a:r>
                        <a:rPr lang="fr-FR" sz="1100" dirty="0" err="1"/>
                        <a:t>Operators</a:t>
                      </a:r>
                      <a:r>
                        <a:rPr lang="fr-FR" sz="1100" dirty="0"/>
                        <a:t> and Expressions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Master the symbols that let you perform calculations and comparisons. Understand how C evaluates expressions.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CB8C4B5-6994-5574-F384-F5B84875CF90}"/>
              </a:ext>
            </a:extLst>
          </p:cNvPr>
          <p:cNvSpPr/>
          <p:nvPr/>
        </p:nvSpPr>
        <p:spPr>
          <a:xfrm>
            <a:off x="3581446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600" dirty="0" err="1"/>
              <a:t>Assignment</a:t>
            </a:r>
            <a:r>
              <a:rPr lang="fr-FR" sz="1600" dirty="0"/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EA917-1EF8-11A5-2A42-FEE446B8F7E4}"/>
              </a:ext>
            </a:extLst>
          </p:cNvPr>
          <p:cNvSpPr txBox="1"/>
          <p:nvPr/>
        </p:nvSpPr>
        <p:spPr>
          <a:xfrm>
            <a:off x="3215640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677574-39EA-8070-7603-A0F3FA71DC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795"/>
          <a:stretch>
            <a:fillRect/>
          </a:stretch>
        </p:blipFill>
        <p:spPr>
          <a:xfrm>
            <a:off x="3672606" y="2653337"/>
            <a:ext cx="8232552" cy="401333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E4FEE5-90DD-C1B7-C9F8-65EA5183A4FD}"/>
              </a:ext>
            </a:extLst>
          </p:cNvPr>
          <p:cNvSpPr/>
          <p:nvPr/>
        </p:nvSpPr>
        <p:spPr>
          <a:xfrm>
            <a:off x="286842" y="2160017"/>
            <a:ext cx="2814732" cy="369332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600" dirty="0"/>
              <a:t>Default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2B29A6-7CDC-B322-08A7-C3CA5A908C89}"/>
              </a:ext>
            </a:extLst>
          </p:cNvPr>
          <p:cNvSpPr/>
          <p:nvPr/>
        </p:nvSpPr>
        <p:spPr>
          <a:xfrm>
            <a:off x="3810000" y="2160017"/>
            <a:ext cx="7970520" cy="369332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600" dirty="0"/>
              <a:t>Advanced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5B5B9D-DA19-BA60-89A2-41CC5D63B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83" y="2966387"/>
            <a:ext cx="2095792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1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463A0-A8ED-ADED-1931-D4CBB77E9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088D82-11B0-D7F8-1E09-D25A8201D16B}"/>
              </a:ext>
            </a:extLst>
          </p:cNvPr>
          <p:cNvSpPr/>
          <p:nvPr/>
        </p:nvSpPr>
        <p:spPr>
          <a:xfrm>
            <a:off x="150718" y="348876"/>
            <a:ext cx="306492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Operators and Expressions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073F0A1-8CC4-4D8D-8773-554682DE8C9D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</a:t>
                      </a:r>
                      <a:r>
                        <a:rPr lang="fr-FR" sz="1100" dirty="0" err="1"/>
                        <a:t>Operators</a:t>
                      </a:r>
                      <a:r>
                        <a:rPr lang="fr-FR" sz="1100" dirty="0"/>
                        <a:t> and Expressions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Master the symbols that let you perform calculations and comparisons. Understand how C evaluates expressions.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8C4CDF7-394B-5104-1D49-E822C056E465}"/>
              </a:ext>
            </a:extLst>
          </p:cNvPr>
          <p:cNvSpPr/>
          <p:nvPr/>
        </p:nvSpPr>
        <p:spPr>
          <a:xfrm>
            <a:off x="3581446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400" dirty="0" err="1"/>
              <a:t>Logical</a:t>
            </a:r>
            <a:r>
              <a:rPr lang="fr-FR" sz="1400" dirty="0"/>
              <a:t> </a:t>
            </a:r>
            <a:r>
              <a:rPr lang="fr-FR" sz="1400" dirty="0" err="1"/>
              <a:t>operators</a:t>
            </a:r>
            <a:r>
              <a:rPr lang="fr-FR" sz="1400" dirty="0"/>
              <a:t> / </a:t>
            </a:r>
            <a:r>
              <a:rPr lang="fr-FR" sz="1400" dirty="0" err="1"/>
              <a:t>Comparison</a:t>
            </a:r>
            <a:r>
              <a:rPr lang="fr-FR" sz="1400" dirty="0"/>
              <a:t>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57169F-A2E5-C91C-5063-D19FC85C95D2}"/>
              </a:ext>
            </a:extLst>
          </p:cNvPr>
          <p:cNvSpPr txBox="1"/>
          <p:nvPr/>
        </p:nvSpPr>
        <p:spPr>
          <a:xfrm>
            <a:off x="3215640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9DA4B884-427B-945D-A009-F50EE5530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527" y="1737360"/>
            <a:ext cx="8682946" cy="4183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3331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A73DB-EE57-B392-D8B7-5FE058707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11DFE85-A16D-C788-7DF5-5E38BA2B5049}"/>
              </a:ext>
            </a:extLst>
          </p:cNvPr>
          <p:cNvSpPr/>
          <p:nvPr/>
        </p:nvSpPr>
        <p:spPr>
          <a:xfrm>
            <a:off x="150718" y="348876"/>
            <a:ext cx="306492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Operators and Expressions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615157-5A7F-E115-7CC3-ADCC8577D32C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</a:t>
                      </a:r>
                      <a:r>
                        <a:rPr lang="fr-FR" sz="1100" dirty="0" err="1"/>
                        <a:t>Operators</a:t>
                      </a:r>
                      <a:r>
                        <a:rPr lang="fr-FR" sz="1100" dirty="0"/>
                        <a:t> and Expressions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Master the symbols that let you perform calculations and comparisons. Understand how C evaluates expressions.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4C1BA2-DCFE-1F73-81A5-E72712B2C9D1}"/>
              </a:ext>
            </a:extLst>
          </p:cNvPr>
          <p:cNvSpPr/>
          <p:nvPr/>
        </p:nvSpPr>
        <p:spPr>
          <a:xfrm>
            <a:off x="3581446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600" dirty="0" err="1"/>
              <a:t>Precedence</a:t>
            </a:r>
            <a:r>
              <a:rPr lang="fr-FR" sz="1600" dirty="0"/>
              <a:t> and </a:t>
            </a:r>
            <a:r>
              <a:rPr lang="fr-FR" sz="1600" dirty="0" err="1"/>
              <a:t>associativity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42C371-852D-2CAF-7865-8AA122254E87}"/>
              </a:ext>
            </a:extLst>
          </p:cNvPr>
          <p:cNvSpPr txBox="1"/>
          <p:nvPr/>
        </p:nvSpPr>
        <p:spPr>
          <a:xfrm>
            <a:off x="3215640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935D8C-724F-F391-43F1-BF7EA3EBC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460" y="980170"/>
            <a:ext cx="5700248" cy="56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692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DD2C5-B6D5-6583-9CFD-D17E13B2F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E200D2-591C-5853-8D65-4F442B81B429}"/>
              </a:ext>
            </a:extLst>
          </p:cNvPr>
          <p:cNvSpPr/>
          <p:nvPr/>
        </p:nvSpPr>
        <p:spPr>
          <a:xfrm>
            <a:off x="150718" y="348876"/>
            <a:ext cx="306492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Input and Output (I/O) Basics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969DF84-2661-032F-22C2-CF6225727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181270"/>
              </p:ext>
            </p:extLst>
          </p:nvPr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</a:t>
                      </a:r>
                      <a:r>
                        <a:rPr lang="en-US" sz="1100" dirty="0"/>
                        <a:t>Input and Output (I/O) Basics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Use the standard input/output functions to interact with users. Learn how to display results and read user input.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9DC9C45-37D4-80F0-8E6B-8A2882BAAFE3}"/>
              </a:ext>
            </a:extLst>
          </p:cNvPr>
          <p:cNvSpPr/>
          <p:nvPr/>
        </p:nvSpPr>
        <p:spPr>
          <a:xfrm>
            <a:off x="3581446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600" dirty="0"/>
              <a:t>printf()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4879B-9839-DFB6-1771-E4985384FFB5}"/>
              </a:ext>
            </a:extLst>
          </p:cNvPr>
          <p:cNvSpPr txBox="1"/>
          <p:nvPr/>
        </p:nvSpPr>
        <p:spPr>
          <a:xfrm>
            <a:off x="3215640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34651B5A-2524-678A-904E-29D68FC11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284" y="1255197"/>
            <a:ext cx="8609788" cy="4843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1294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1FE36-3C02-8269-8714-F7FF181D1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243621D-6FDD-20D5-53E9-B238848DD5BC}"/>
              </a:ext>
            </a:extLst>
          </p:cNvPr>
          <p:cNvSpPr/>
          <p:nvPr/>
        </p:nvSpPr>
        <p:spPr>
          <a:xfrm>
            <a:off x="150718" y="348876"/>
            <a:ext cx="306492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Input and Output (I/O) Basics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C4E326B-FCA9-5644-9CCE-459E9C10871C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</a:t>
                      </a:r>
                      <a:r>
                        <a:rPr lang="en-US" sz="1100" dirty="0"/>
                        <a:t>Input and Output (I/O) Basics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Use the standard input/output functions to interact with users. Learn how to display results and read user input.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8F43199-1C21-9A21-2837-2D1E0E6FED49}"/>
              </a:ext>
            </a:extLst>
          </p:cNvPr>
          <p:cNvSpPr/>
          <p:nvPr/>
        </p:nvSpPr>
        <p:spPr>
          <a:xfrm>
            <a:off x="3581446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600" dirty="0"/>
              <a:t>printf()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C8E30-D30D-9016-1B7F-A8F65E94B5EC}"/>
              </a:ext>
            </a:extLst>
          </p:cNvPr>
          <p:cNvSpPr txBox="1"/>
          <p:nvPr/>
        </p:nvSpPr>
        <p:spPr>
          <a:xfrm>
            <a:off x="3215640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9EB81B-4A33-84EA-4F6C-8B68CBD80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684" y="1024743"/>
            <a:ext cx="9576632" cy="548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891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38976-356C-C593-AFAA-ECBA1CCB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0E39C6-4921-4A58-A5BF-705635C8278B}"/>
              </a:ext>
            </a:extLst>
          </p:cNvPr>
          <p:cNvSpPr/>
          <p:nvPr/>
        </p:nvSpPr>
        <p:spPr>
          <a:xfrm>
            <a:off x="150718" y="348876"/>
            <a:ext cx="306492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Input and Output (I/O) Basics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B0B4F9B-3B8D-2BD6-D8F3-0D6876648A02}"/>
              </a:ext>
            </a:extLst>
          </p:cNvPr>
          <p:cNvGraphicFramePr>
            <a:graphicFrameLocks noGrp="1"/>
          </p:cNvGraphicFramePr>
          <p:nvPr/>
        </p:nvGraphicFramePr>
        <p:xfrm>
          <a:off x="6972300" y="69222"/>
          <a:ext cx="5138832" cy="559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59">
                  <a:extLst>
                    <a:ext uri="{9D8B030D-6E8A-4147-A177-3AD203B41FA5}">
                      <a16:colId xmlns:a16="http://schemas.microsoft.com/office/drawing/2014/main" val="3329669452"/>
                    </a:ext>
                  </a:extLst>
                </a:gridCol>
                <a:gridCol w="4247773">
                  <a:extLst>
                    <a:ext uri="{9D8B030D-6E8A-4147-A177-3AD203B41FA5}">
                      <a16:colId xmlns:a16="http://schemas.microsoft.com/office/drawing/2014/main" val="4240705246"/>
                    </a:ext>
                  </a:extLst>
                </a:gridCol>
              </a:tblGrid>
              <a:tr h="1601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TPE-004-4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noProof="0" dirty="0">
                          <a:effectLst/>
                        </a:rPr>
                        <a:t> </a:t>
                      </a:r>
                      <a:r>
                        <a:rPr lang="en-US" sz="1100" dirty="0"/>
                        <a:t>Input and Output (I/O) Basics</a:t>
                      </a:r>
                      <a:endParaRPr lang="en-US" sz="1100" kern="100" noProof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852465"/>
                  </a:ext>
                </a:extLst>
              </a:tr>
              <a:tr h="328641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noProof="0" dirty="0">
                          <a:solidFill>
                            <a:schemeClr val="tx1"/>
                          </a:solidFill>
                        </a:rPr>
                        <a:t>Use the standard input/output functions to interact with users. Learn how to display results and read user input.</a:t>
                      </a:r>
                      <a:endParaRPr lang="en-US" sz="1100" kern="100" noProof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02161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A3ACCB-185E-AD7A-7861-3C084D88D7BF}"/>
              </a:ext>
            </a:extLst>
          </p:cNvPr>
          <p:cNvSpPr/>
          <p:nvPr/>
        </p:nvSpPr>
        <p:spPr>
          <a:xfrm>
            <a:off x="3581446" y="348875"/>
            <a:ext cx="2814732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fr-FR" sz="1600" dirty="0" err="1"/>
              <a:t>scanf</a:t>
            </a:r>
            <a:r>
              <a:rPr lang="fr-FR" sz="1600" dirty="0"/>
              <a:t>()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1B2B3-C2AB-9351-6E90-B1CD90982089}"/>
              </a:ext>
            </a:extLst>
          </p:cNvPr>
          <p:cNvSpPr txBox="1"/>
          <p:nvPr/>
        </p:nvSpPr>
        <p:spPr>
          <a:xfrm>
            <a:off x="3215640" y="30270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</p:txBody>
      </p:sp>
      <p:pic>
        <p:nvPicPr>
          <p:cNvPr id="10242" name="Picture 2" descr="scanf function in c -introduction | getchar() function">
            <a:extLst>
              <a:ext uri="{FF2B5EF4-FFF2-40B4-BE49-F238E27FC236}">
                <a16:creationId xmlns:a16="http://schemas.microsoft.com/office/drawing/2014/main" id="{EFA9860C-046B-A902-CE8E-AA8DD9626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44717"/>
            <a:ext cx="9906000" cy="4720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105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1423</Words>
  <Application>Microsoft Office PowerPoint</Application>
  <PresentationFormat>Widescreen</PresentationFormat>
  <Paragraphs>265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Cascadia Code</vt:lpstr>
      <vt:lpstr>Wingdings</vt:lpstr>
      <vt:lpstr>Office Theme</vt:lpstr>
      <vt:lpstr>C-PROGRAMMING TPE-004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VANDAMME Simon</dc:creator>
  <cp:lastModifiedBy>VANDAMME Simon</cp:lastModifiedBy>
  <cp:revision>105</cp:revision>
  <dcterms:created xsi:type="dcterms:W3CDTF">2025-10-15T02:49:01Z</dcterms:created>
  <dcterms:modified xsi:type="dcterms:W3CDTF">2025-10-15T05:55:11Z</dcterms:modified>
</cp:coreProperties>
</file>