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Play"/>
      <p:regular r:id="rId31"/>
      <p:bold r:id="rId32"/>
    </p:embeddedFont>
    <p:embeddedFont>
      <p:font typeface="Cascadia Code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iPXpXqGTkbNrBTiCho4oOAvD3u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C82B6F-2235-4462-94E4-35C72BBDDD54}">
  <a:tblStyle styleId="{DBC82B6F-2235-4462-94E4-35C72BBDDD54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CascadiaCode-regular.fntdata"/><Relationship Id="rId10" Type="http://schemas.openxmlformats.org/officeDocument/2006/relationships/slide" Target="slides/slide5.xml"/><Relationship Id="rId32" Type="http://schemas.openxmlformats.org/officeDocument/2006/relationships/font" Target="fonts/Play-bold.fntdata"/><Relationship Id="rId13" Type="http://schemas.openxmlformats.org/officeDocument/2006/relationships/slide" Target="slides/slide8.xml"/><Relationship Id="rId35" Type="http://schemas.openxmlformats.org/officeDocument/2006/relationships/font" Target="fonts/CascadiaCode-italic.fntdata"/><Relationship Id="rId12" Type="http://schemas.openxmlformats.org/officeDocument/2006/relationships/slide" Target="slides/slide7.xml"/><Relationship Id="rId34" Type="http://schemas.openxmlformats.org/officeDocument/2006/relationships/font" Target="fonts/CascadiaCode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CascadiaCode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mailto:svandamme@omnesintervenant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jp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9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50641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b="1" lang="en-US"/>
              <a:t>C-PROGRAMMING</a:t>
            </a:r>
            <a:br>
              <a:rPr lang="en-US"/>
            </a:br>
            <a:r>
              <a:rPr lang="en-US"/>
              <a:t>TPE-004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432880"/>
            <a:ext cx="10668000" cy="106221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4122991" y="5575300"/>
            <a:ext cx="39460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svandamme@omnesintervenant.com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3928968" y="5111376"/>
            <a:ext cx="433406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188818" y="291726"/>
            <a:ext cx="4334062" cy="369332"/>
          </a:xfrm>
          <a:prstGeom prst="roundRect">
            <a:avLst>
              <a:gd fmla="val 20772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Table of content</a:t>
            </a:r>
            <a:endParaRPr/>
          </a:p>
        </p:txBody>
      </p:sp>
      <p:graphicFrame>
        <p:nvGraphicFramePr>
          <p:cNvPr id="93" name="Google Shape;93;p2"/>
          <p:cNvGraphicFramePr/>
          <p:nvPr/>
        </p:nvGraphicFramePr>
        <p:xfrm>
          <a:off x="304800" y="115062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1232000"/>
                <a:gridCol w="5873050"/>
              </a:tblGrid>
              <a:tr h="25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TPE-004-1</a:t>
                      </a:r>
                      <a:endParaRPr/>
                    </a:p>
                  </a:txBody>
                  <a:tcPr marT="0" marB="0" marR="94825" marL="948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 Introduction to Data and Variables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5199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Learn how to declare, initialize, and use variables in simple programs.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225" marB="63225" marR="126425" marL="126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304800" y="2520768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1232000"/>
                <a:gridCol w="5873050"/>
              </a:tblGrid>
              <a:tr h="25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TPE-004-2</a:t>
                      </a:r>
                      <a:endParaRPr/>
                    </a:p>
                  </a:txBody>
                  <a:tcPr marT="0" marB="0" marR="94825" marL="948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 Constants and Literals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5199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Learn how to represent fixed values in programs and prevent changes to important data using constants.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225" marB="63225" marR="126425" marL="126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95" name="Google Shape;95;p2"/>
          <p:cNvGraphicFramePr/>
          <p:nvPr/>
        </p:nvGraphicFramePr>
        <p:xfrm>
          <a:off x="304800" y="3890916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1232000"/>
                <a:gridCol w="5873050"/>
              </a:tblGrid>
              <a:tr h="25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TPE-004-3</a:t>
                      </a:r>
                      <a:endParaRPr/>
                    </a:p>
                  </a:txBody>
                  <a:tcPr marT="0" marB="0" marR="94825" marL="948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 Operators and Expressions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5199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Master the symbols that let you perform calculations and comparisons. Understand how C evaluates expressions.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225" marB="63225" marR="126425" marL="126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96" name="Google Shape;96;p2"/>
          <p:cNvGraphicFramePr/>
          <p:nvPr/>
        </p:nvGraphicFramePr>
        <p:xfrm>
          <a:off x="304800" y="5261064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1232000"/>
                <a:gridCol w="5873050"/>
              </a:tblGrid>
              <a:tr h="25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TPE-004-4</a:t>
                      </a:r>
                      <a:endParaRPr/>
                    </a:p>
                  </a:txBody>
                  <a:tcPr marT="0" marB="0" marR="94825" marL="948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 Input and Output (I/O) Basics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5199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Use the standard input/output functions to interact with users. Learn how to display results and read user input.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225" marB="63225" marR="126425" marL="126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Introduction to Data and 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declare, initialize, and use variables in simple programs.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102" name="Google Shape;102;p3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What’s a variable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4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Introduction to Data and 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declare, initialize, and use variables in simple programs.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1084" y="910345"/>
            <a:ext cx="3170332" cy="5871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6360" y="1776227"/>
            <a:ext cx="2689423" cy="251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 txBox="1"/>
          <p:nvPr/>
        </p:nvSpPr>
        <p:spPr>
          <a:xfrm>
            <a:off x="8121292" y="1241795"/>
            <a:ext cx="23595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set a variable?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5915" y="4955593"/>
            <a:ext cx="3410309" cy="824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Google Shape;121;p5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Introduction to Data and 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declare, initialize, and use variables in simple programs.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122" name="Google Shape;122;p5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“bit” of memory…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00050" y="1568681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1031034" y="1568681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336820" y="1180077"/>
            <a:ext cx="45020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variable can have only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values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349926" y="2928675"/>
            <a:ext cx="50745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Now, using multiple binary slot in the memory of the machine, we can code on multiple bits!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7614124" y="1083435"/>
            <a:ext cx="37396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Analogy with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decimal digits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8489950" y="1522839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9105900" y="1522839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9721850" y="1522839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10337800" y="1522839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10458247" y="2203098"/>
            <a:ext cx="4539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10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10766370" y="2159164"/>
            <a:ext cx="31931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0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7518198" y="1600908"/>
            <a:ext cx="925253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</a:t>
            </a: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 digits)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9771808" y="2221588"/>
            <a:ext cx="4539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10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10079931" y="2177654"/>
            <a:ext cx="31931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1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9169780" y="2203098"/>
            <a:ext cx="4539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10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9477903" y="2159164"/>
            <a:ext cx="31931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2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8502372" y="2221588"/>
            <a:ext cx="4539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10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8810495" y="2177654"/>
            <a:ext cx="31931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4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8405694" y="2690336"/>
            <a:ext cx="6783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9000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9155406" y="2690336"/>
            <a:ext cx="5549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500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9814061" y="2690336"/>
            <a:ext cx="431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/>
          </a:p>
        </p:txBody>
      </p:sp>
      <p:sp>
        <p:nvSpPr>
          <p:cNvPr id="146" name="Google Shape;146;p5"/>
          <p:cNvSpPr txBox="1"/>
          <p:nvPr/>
        </p:nvSpPr>
        <p:spPr>
          <a:xfrm>
            <a:off x="10527268" y="2710002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10854240" y="2379606"/>
            <a:ext cx="107914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Multiplied by…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10826929" y="2805040"/>
            <a:ext cx="101822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Result per tile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7670918" y="4073781"/>
            <a:ext cx="19168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Coding in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bits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8546744" y="4513185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9162694" y="4513185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9778644" y="4513185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10394594" y="4513185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10545176" y="5193444"/>
            <a:ext cx="319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2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10684876" y="5149510"/>
            <a:ext cx="31931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0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9937774" y="5193444"/>
            <a:ext cx="319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2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10077474" y="5149510"/>
            <a:ext cx="31931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1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9314755" y="5193444"/>
            <a:ext cx="319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2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9454455" y="5149510"/>
            <a:ext cx="31931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2</a:t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8703676" y="5181491"/>
            <a:ext cx="319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2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8843376" y="5137557"/>
            <a:ext cx="31931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3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7656745" y="4591254"/>
            <a:ext cx="84350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</a:t>
            </a: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 bits)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10569096" y="5627085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9948994" y="5637713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9325975" y="5637713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>
              <a:solidFill>
                <a:srgbClr val="0A30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8703676" y="5637713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10766014" y="5290503"/>
            <a:ext cx="107914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Multiplied by…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10813873" y="5724144"/>
            <a:ext cx="101822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Result per tile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8606767" y="6007045"/>
            <a:ext cx="23809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Total sum </a:t>
            </a:r>
            <a:r>
              <a:rPr lang="en-US" sz="11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(in base-10)</a:t>
            </a:r>
            <a:r>
              <a:rPr b="1"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8380160" y="3114594"/>
            <a:ext cx="25735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Total sum </a:t>
            </a:r>
            <a:r>
              <a:rPr lang="en-US" sz="11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(in base-10)</a:t>
            </a:r>
            <a:r>
              <a:rPr b="1"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: 9503</a:t>
            </a:r>
            <a:endParaRPr sz="1800">
              <a:solidFill>
                <a:srgbClr val="0A30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5"/>
          <p:cNvCxnSpPr/>
          <p:nvPr/>
        </p:nvCxnSpPr>
        <p:spPr>
          <a:xfrm>
            <a:off x="8380160" y="3079334"/>
            <a:ext cx="2532057" cy="0"/>
          </a:xfrm>
          <a:prstGeom prst="straightConnector1">
            <a:avLst/>
          </a:prstGeom>
          <a:noFill/>
          <a:ln cap="flat" cmpd="sng" w="19050">
            <a:solidFill>
              <a:srgbClr val="0A304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5"/>
          <p:cNvCxnSpPr/>
          <p:nvPr/>
        </p:nvCxnSpPr>
        <p:spPr>
          <a:xfrm>
            <a:off x="8500245" y="6002351"/>
            <a:ext cx="2532057" cy="0"/>
          </a:xfrm>
          <a:prstGeom prst="straightConnector1">
            <a:avLst/>
          </a:prstGeom>
          <a:noFill/>
          <a:ln cap="flat" cmpd="sng" w="19050">
            <a:solidFill>
              <a:srgbClr val="0A304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ONE Bit Memory Circuit" id="173" name="Google Shape;1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824" y="3575007"/>
            <a:ext cx="5260621" cy="295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Google Shape;178;p6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Introduction to Data and 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declare, initialize, and use variables in simple programs.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179" name="Google Shape;179;p6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Boolean algebra (1/2)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pic>
        <p:nvPicPr>
          <p:cNvPr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3920" y="989599"/>
            <a:ext cx="6958013" cy="5519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NE Bit Memory Circuit" id="183" name="Google Shape;18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805" y="2636007"/>
            <a:ext cx="3958596" cy="2226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Google Shape;188;p7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Introduction to Data and 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declare, initialize, and use variables in simple programs.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189" name="Google Shape;189;p7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Boolean algebra (2/2)</a:t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pic>
        <p:nvPicPr>
          <p:cNvPr id="192" name="Google Shape;1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778" y="2056398"/>
            <a:ext cx="3834019" cy="3041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0531" y="1274883"/>
            <a:ext cx="7790751" cy="460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Google Shape;198;p8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Introduction to Data and 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declare, initialize, and use variables in simple programs.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199" name="Google Shape;199;p8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Binary, octet, hexa…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scadia Cod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400050" y="2178281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1016000" y="2178281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04" name="Google Shape;204;p8"/>
          <p:cNvSpPr txBox="1"/>
          <p:nvPr/>
        </p:nvSpPr>
        <p:spPr>
          <a:xfrm>
            <a:off x="336820" y="1789677"/>
            <a:ext cx="45020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variable can have only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values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336820" y="3075263"/>
            <a:ext cx="53749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decimal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variable can have up to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values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 tile: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00050" y="3461330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1016000" y="3461330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631950" y="3461330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2247900" y="3461330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2863850" y="3461330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3479800" y="3461330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095750" y="3461330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336820" y="4419767"/>
            <a:ext cx="59979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hexadecimal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variable can have up to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values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 tile: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00050" y="4805834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1016000" y="4805834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1631950" y="4805834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2247900" y="4805834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2863850" y="4805834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3479800" y="4805834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4095750" y="4805834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711700" y="4805834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5327650" y="4805834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5943600" y="4805834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6559550" y="4805834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7175500" y="4805834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4800737" y="5438519"/>
            <a:ext cx="431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5419861" y="5438519"/>
            <a:ext cx="431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28" name="Google Shape;228;p8"/>
          <p:cNvSpPr txBox="1"/>
          <p:nvPr/>
        </p:nvSpPr>
        <p:spPr>
          <a:xfrm>
            <a:off x="6058036" y="5438519"/>
            <a:ext cx="431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6651761" y="5438519"/>
            <a:ext cx="431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7267711" y="5438519"/>
            <a:ext cx="431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7791450" y="4805834"/>
            <a:ext cx="615950" cy="615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7883661" y="5438519"/>
            <a:ext cx="431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304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6705415" y="1398675"/>
            <a:ext cx="39388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octet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set of 8 bits put together.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6705415" y="2098782"/>
            <a:ext cx="51330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kilo-octet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(ko) is NOT the same as a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kilo-bit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(kb)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8"/>
          <p:cNvCxnSpPr>
            <a:endCxn id="233" idx="1"/>
          </p:cNvCxnSpPr>
          <p:nvPr/>
        </p:nvCxnSpPr>
        <p:spPr>
          <a:xfrm flipH="1" rot="10800000">
            <a:off x="5090215" y="1583341"/>
            <a:ext cx="1615200" cy="39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6" name="Google Shape;236;p8"/>
          <p:cNvCxnSpPr>
            <a:endCxn id="234" idx="1"/>
          </p:cNvCxnSpPr>
          <p:nvPr/>
        </p:nvCxnSpPr>
        <p:spPr>
          <a:xfrm>
            <a:off x="5090215" y="2110348"/>
            <a:ext cx="1615200" cy="17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1" name="Google Shape;241;p9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Introduction to Data and 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declare, initialize, and use variables in simple programs.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242" name="Google Shape;242;p9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Binary calculations</a:t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scadia Cod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pic>
        <p:nvPicPr>
          <p:cNvPr id="245" name="Google Shape;245;p9"/>
          <p:cNvPicPr preferRelativeResize="0"/>
          <p:nvPr/>
        </p:nvPicPr>
        <p:blipFill rotWithShape="1">
          <a:blip r:embed="rId3">
            <a:alphaModFix/>
          </a:blip>
          <a:srcRect b="0" l="0" r="0" t="11263"/>
          <a:stretch/>
        </p:blipFill>
        <p:spPr>
          <a:xfrm>
            <a:off x="4136952" y="956410"/>
            <a:ext cx="5138832" cy="5901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" name="Google Shape;250;p10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Introduction to Data and 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declare, initialize, and use variables in simple programs.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251" name="Google Shape;251;p10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Binary calculations</a:t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scadia Cod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pic>
        <p:nvPicPr>
          <p:cNvPr id="254" name="Google Shape;254;p10"/>
          <p:cNvPicPr preferRelativeResize="0"/>
          <p:nvPr/>
        </p:nvPicPr>
        <p:blipFill rotWithShape="1">
          <a:blip r:embed="rId3">
            <a:alphaModFix/>
          </a:blip>
          <a:srcRect b="0" l="0" r="0" t="11138"/>
          <a:stretch/>
        </p:blipFill>
        <p:spPr>
          <a:xfrm>
            <a:off x="250422" y="969988"/>
            <a:ext cx="4983480" cy="5731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0"/>
          <p:cNvPicPr preferRelativeResize="0"/>
          <p:nvPr/>
        </p:nvPicPr>
        <p:blipFill rotWithShape="1">
          <a:blip r:embed="rId4">
            <a:alphaModFix/>
          </a:blip>
          <a:srcRect b="0" l="0" r="0" t="10472"/>
          <a:stretch/>
        </p:blipFill>
        <p:spPr>
          <a:xfrm>
            <a:off x="6493523" y="909028"/>
            <a:ext cx="4946418" cy="5731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" name="Google Shape;260;p11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Introduction to Data and 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declare, initialize, and use variables in simple programs.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261" name="Google Shape;261;p11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Binary calculations</a:t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scadia Cod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pic>
        <p:nvPicPr>
          <p:cNvPr id="264" name="Google Shape;264;p11"/>
          <p:cNvPicPr preferRelativeResize="0"/>
          <p:nvPr/>
        </p:nvPicPr>
        <p:blipFill rotWithShape="1">
          <a:blip r:embed="rId3">
            <a:alphaModFix/>
          </a:blip>
          <a:srcRect b="0" l="0" r="0" t="10959"/>
          <a:stretch/>
        </p:blipFill>
        <p:spPr>
          <a:xfrm>
            <a:off x="6972300" y="960738"/>
            <a:ext cx="5057458" cy="5828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1"/>
          <p:cNvPicPr preferRelativeResize="0"/>
          <p:nvPr/>
        </p:nvPicPr>
        <p:blipFill rotWithShape="1">
          <a:blip r:embed="rId4">
            <a:alphaModFix/>
          </a:blip>
          <a:srcRect b="0" l="0" r="0" t="11206"/>
          <a:stretch/>
        </p:blipFill>
        <p:spPr>
          <a:xfrm>
            <a:off x="1038542" y="977067"/>
            <a:ext cx="5057458" cy="581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0" name="Google Shape;270;p12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Introduction to Data and 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declare, initialize, and use variables in simple programs.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271" name="Google Shape;271;p12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“bit” of memory…</a:t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pic>
        <p:nvPicPr>
          <p:cNvPr id="274" name="Google Shape;27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03" y="1084032"/>
            <a:ext cx="4235997" cy="5327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1425" y="1768475"/>
            <a:ext cx="6741072" cy="3933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0" name="Google Shape;280;p13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Introduction to Data and 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declare, initialize, and use variables in simple programs.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281" name="Google Shape;281;p13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Complete data types</a:t>
            </a:r>
            <a:endParaRPr/>
          </a:p>
        </p:txBody>
      </p:sp>
      <p:sp>
        <p:nvSpPr>
          <p:cNvPr id="283" name="Google Shape;283;p13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pic>
        <p:nvPicPr>
          <p:cNvPr id="284" name="Google Shape;2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684" y="990475"/>
            <a:ext cx="9576632" cy="5484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" name="Google Shape;289;p14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Introduction to Data and 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declare, initialize, and use variables in simple programs.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290" name="Google Shape;290;p14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Range &amp; bit precision</a:t>
            </a:r>
            <a:endParaRPr/>
          </a:p>
        </p:txBody>
      </p:sp>
      <p:sp>
        <p:nvSpPr>
          <p:cNvPr id="292" name="Google Shape;292;p14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sp>
        <p:nvSpPr>
          <p:cNvPr id="293" name="Google Shape;293;p14"/>
          <p:cNvSpPr txBox="1"/>
          <p:nvPr/>
        </p:nvSpPr>
        <p:spPr>
          <a:xfrm>
            <a:off x="9855612" y="2926604"/>
            <a:ext cx="225552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this function to know how much bits are attributed to each variables.</a:t>
            </a:r>
            <a:endParaRPr/>
          </a:p>
        </p:txBody>
      </p:sp>
      <p:pic>
        <p:nvPicPr>
          <p:cNvPr id="294" name="Google Shape;2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5766" y="5933301"/>
            <a:ext cx="2316423" cy="33795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4"/>
          <p:cNvSpPr txBox="1"/>
          <p:nvPr/>
        </p:nvSpPr>
        <p:spPr>
          <a:xfrm>
            <a:off x="7564848" y="1890974"/>
            <a:ext cx="45462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number of bit depends on your OS architecture! (32 bits – 64 bits)</a:t>
            </a:r>
            <a:endParaRPr/>
          </a:p>
        </p:txBody>
      </p:sp>
      <p:pic>
        <p:nvPicPr>
          <p:cNvPr id="296" name="Google Shape;2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3811" y="5404183"/>
            <a:ext cx="4546285" cy="39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54106" y="3239213"/>
            <a:ext cx="1743318" cy="409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4"/>
          <p:cNvPicPr preferRelativeResize="0"/>
          <p:nvPr/>
        </p:nvPicPr>
        <p:blipFill rotWithShape="1">
          <a:blip r:embed="rId6">
            <a:alphaModFix/>
          </a:blip>
          <a:srcRect b="0" l="0" r="30426" t="0"/>
          <a:stretch/>
        </p:blipFill>
        <p:spPr>
          <a:xfrm>
            <a:off x="251904" y="906655"/>
            <a:ext cx="6662836" cy="548438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4"/>
          <p:cNvSpPr/>
          <p:nvPr/>
        </p:nvSpPr>
        <p:spPr>
          <a:xfrm>
            <a:off x="7564848" y="1413457"/>
            <a:ext cx="386515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 attribution</a:t>
            </a:r>
            <a:endParaRPr/>
          </a:p>
        </p:txBody>
      </p:sp>
      <p:sp>
        <p:nvSpPr>
          <p:cNvPr id="300" name="Google Shape;300;p14"/>
          <p:cNvSpPr txBox="1"/>
          <p:nvPr/>
        </p:nvSpPr>
        <p:spPr>
          <a:xfrm>
            <a:off x="7393811" y="4976328"/>
            <a:ext cx="2255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/>
          </a:p>
        </p:txBody>
      </p:sp>
      <p:graphicFrame>
        <p:nvGraphicFramePr>
          <p:cNvPr id="306" name="Google Shape;306;p15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Introduction to Data and 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declare, initialize, and use variables in simple programs.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307" name="Google Shape;307;p15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Naming convention in C (1/2)</a:t>
            </a:r>
            <a:endParaRPr/>
          </a:p>
        </p:txBody>
      </p:sp>
      <p:sp>
        <p:nvSpPr>
          <p:cNvPr id="308" name="Google Shape;308;p15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1496023" y="1609367"/>
            <a:ext cx="9199954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 RULES!</a:t>
            </a:r>
            <a:endParaRPr/>
          </a:p>
        </p:txBody>
      </p:sp>
      <p:sp>
        <p:nvSpPr>
          <p:cNvPr id="310" name="Google Shape;310;p15"/>
          <p:cNvSpPr txBox="1"/>
          <p:nvPr/>
        </p:nvSpPr>
        <p:spPr>
          <a:xfrm>
            <a:off x="1496023" y="2054715"/>
            <a:ext cx="919995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 to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letters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underscore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("_")		</a:t>
            </a:r>
            <a:r>
              <a:rPr lang="en-US" sz="1800">
                <a:solidFill>
                  <a:srgbClr val="7F340D"/>
                </a:solidFill>
                <a:latin typeface="Arial"/>
                <a:ea typeface="Arial"/>
                <a:cs typeface="Arial"/>
                <a:sym typeface="Arial"/>
              </a:rPr>
              <a:t>hello_world, helloWorld...</a:t>
            </a:r>
            <a:endParaRPr sz="1800">
              <a:solidFill>
                <a:srgbClr val="7F34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starts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a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				</a:t>
            </a:r>
            <a:r>
              <a:rPr lang="en-US" sz="1800">
                <a:solidFill>
                  <a:srgbClr val="7F340D"/>
                </a:solidFill>
                <a:latin typeface="Arial"/>
                <a:ea typeface="Arial"/>
                <a:cs typeface="Arial"/>
                <a:sym typeface="Arial"/>
              </a:rPr>
              <a:t>1dog, 2dog …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“Case-sensitive”: watch out for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capitalized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letters 		</a:t>
            </a:r>
            <a:r>
              <a:rPr lang="en-US" sz="1800">
                <a:solidFill>
                  <a:srgbClr val="7F340D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u="sng">
                <a:solidFill>
                  <a:srgbClr val="7F340D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solidFill>
                  <a:srgbClr val="7F340D"/>
                </a:solidFill>
                <a:latin typeface="Arial"/>
                <a:ea typeface="Arial"/>
                <a:cs typeface="Arial"/>
                <a:sym typeface="Arial"/>
              </a:rPr>
              <a:t>core =/= </a:t>
            </a:r>
            <a:r>
              <a:rPr lang="en-US" sz="1800" u="sng">
                <a:solidFill>
                  <a:srgbClr val="7F340D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solidFill>
                  <a:srgbClr val="7F340D"/>
                </a:solidFill>
                <a:latin typeface="Arial"/>
                <a:ea typeface="Arial"/>
                <a:cs typeface="Arial"/>
                <a:sym typeface="Arial"/>
              </a:rPr>
              <a:t>core)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Don’t use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keywords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C 				</a:t>
            </a:r>
            <a:r>
              <a:rPr lang="en-US" sz="1800">
                <a:solidFill>
                  <a:srgbClr val="7F340D"/>
                </a:solidFill>
                <a:latin typeface="Arial"/>
                <a:ea typeface="Arial"/>
                <a:cs typeface="Arial"/>
                <a:sym typeface="Arial"/>
              </a:rPr>
              <a:t>int, return …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it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concise (maximum 31 letters)</a:t>
            </a: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3199751" y="4748863"/>
            <a:ext cx="5727700" cy="1278850"/>
          </a:xfrm>
          <a:prstGeom prst="roundRect">
            <a:avLst>
              <a:gd fmla="val 8839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4739434" y="4276388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Constant variables</a:t>
            </a:r>
            <a:endParaRPr/>
          </a:p>
        </p:txBody>
      </p:sp>
      <p:sp>
        <p:nvSpPr>
          <p:cNvPr id="313" name="Google Shape;313;p15"/>
          <p:cNvSpPr txBox="1"/>
          <p:nvPr/>
        </p:nvSpPr>
        <p:spPr>
          <a:xfrm>
            <a:off x="3251596" y="4787061"/>
            <a:ext cx="56240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in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ALL_CAPS_WITH_UNDERSCORES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9447" y="5194301"/>
            <a:ext cx="2994267" cy="692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/>
          </a:p>
        </p:txBody>
      </p:sp>
      <p:graphicFrame>
        <p:nvGraphicFramePr>
          <p:cNvPr id="320" name="Google Shape;320;p16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Introduction to Data and 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declare, initialize, and use variables in simple programs.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321" name="Google Shape;321;p16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Naming convention in C (2/2)</a:t>
            </a:r>
            <a:endParaRPr/>
          </a:p>
        </p:txBody>
      </p:sp>
      <p:sp>
        <p:nvSpPr>
          <p:cNvPr id="322" name="Google Shape;322;p16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sp>
        <p:nvSpPr>
          <p:cNvPr id="323" name="Google Shape;323;p16"/>
          <p:cNvSpPr/>
          <p:nvPr/>
        </p:nvSpPr>
        <p:spPr>
          <a:xfrm>
            <a:off x="271368" y="2578880"/>
            <a:ext cx="2452782" cy="369332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camelCase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6"/>
          <p:cNvSpPr txBox="1"/>
          <p:nvPr/>
        </p:nvSpPr>
        <p:spPr>
          <a:xfrm>
            <a:off x="271368" y="3119005"/>
            <a:ext cx="240187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userName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totalPrice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fishDistributionResult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3274918" y="2578880"/>
            <a:ext cx="2452782" cy="369332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snake_case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6"/>
          <p:cNvSpPr txBox="1"/>
          <p:nvPr/>
        </p:nvSpPr>
        <p:spPr>
          <a:xfrm>
            <a:off x="3274918" y="3119005"/>
            <a:ext cx="24724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user_name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total_price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fish_distribution_result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190906" y="2401455"/>
            <a:ext cx="5727700" cy="1784724"/>
          </a:xfrm>
          <a:prstGeom prst="roundRect">
            <a:avLst>
              <a:gd fmla="val 8839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240024" y="1888279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Naming convention</a:t>
            </a:r>
            <a:endParaRPr/>
          </a:p>
        </p:txBody>
      </p:sp>
      <p:cxnSp>
        <p:nvCxnSpPr>
          <p:cNvPr id="329" name="Google Shape;329;p16"/>
          <p:cNvCxnSpPr/>
          <p:nvPr/>
        </p:nvCxnSpPr>
        <p:spPr>
          <a:xfrm>
            <a:off x="3000183" y="2578880"/>
            <a:ext cx="0" cy="146345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0" name="Google Shape;330;p16"/>
          <p:cNvSpPr txBox="1"/>
          <p:nvPr/>
        </p:nvSpPr>
        <p:spPr>
          <a:xfrm>
            <a:off x="6330695" y="4089814"/>
            <a:ext cx="56240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variable name must be as indicative as possible, so that everyone know how and why to use your variables.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farenhS1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🡺 </a:t>
            </a:r>
            <a:r>
              <a:rPr b="1" lang="en-US" sz="18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sensorFarenheit_1</a:t>
            </a:r>
            <a:endParaRPr b="1" sz="18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6281577" y="4011293"/>
            <a:ext cx="5727700" cy="1278850"/>
          </a:xfrm>
          <a:prstGeom prst="roundRect">
            <a:avLst>
              <a:gd fmla="val 8839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9191817" y="3496556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Name them CLEARLY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Constants &amp; Literals</a:t>
            </a:r>
            <a:endParaRPr/>
          </a:p>
        </p:txBody>
      </p:sp>
      <p:graphicFrame>
        <p:nvGraphicFramePr>
          <p:cNvPr id="338" name="Google Shape;338;p17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Constants and Literals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represent fixed values in programs and prevent changes to important data using constants.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339" name="Google Shape;339;p17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"const"</a:t>
            </a:r>
            <a:endParaRPr/>
          </a:p>
        </p:txBody>
      </p:sp>
      <p:sp>
        <p:nvSpPr>
          <p:cNvPr id="340" name="Google Shape;340;p17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"/>
          <p:cNvSpPr/>
          <p:nvPr/>
        </p:nvSpPr>
        <p:spPr>
          <a:xfrm>
            <a:off x="150718" y="348876"/>
            <a:ext cx="28655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Constants &amp; Literals</a:t>
            </a:r>
            <a:endParaRPr/>
          </a:p>
        </p:txBody>
      </p:sp>
      <p:graphicFrame>
        <p:nvGraphicFramePr>
          <p:cNvPr id="346" name="Google Shape;346;p18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Constants and Literals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Learn how to represent fixed values in programs and prevent changes to important data using constants.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347" name="Google Shape;347;p18"/>
          <p:cNvSpPr/>
          <p:nvPr/>
        </p:nvSpPr>
        <p:spPr>
          <a:xfrm>
            <a:off x="3459068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#define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  <p:sp>
        <p:nvSpPr>
          <p:cNvPr id="348" name="Google Shape;348;p18"/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scadia Cod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"/>
          <p:cNvSpPr/>
          <p:nvPr/>
        </p:nvSpPr>
        <p:spPr>
          <a:xfrm>
            <a:off x="150718" y="348876"/>
            <a:ext cx="306492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Operators and Expressions</a:t>
            </a:r>
            <a:endParaRPr/>
          </a:p>
        </p:txBody>
      </p:sp>
      <p:graphicFrame>
        <p:nvGraphicFramePr>
          <p:cNvPr id="354" name="Google Shape;354;p19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Operators and Expressions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Master the symbols that let you perform calculations and comparisons. Understand how C evaluates expressions.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355" name="Google Shape;355;p19"/>
          <p:cNvSpPr/>
          <p:nvPr/>
        </p:nvSpPr>
        <p:spPr>
          <a:xfrm>
            <a:off x="3581446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Arithmetic operators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3215640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scadia Cod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pic>
        <p:nvPicPr>
          <p:cNvPr id="357" name="Google Shape;3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860" y="1037891"/>
            <a:ext cx="11498280" cy="4782217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9"/>
          <p:cNvSpPr/>
          <p:nvPr/>
        </p:nvSpPr>
        <p:spPr>
          <a:xfrm>
            <a:off x="472440" y="6027420"/>
            <a:ext cx="1584960" cy="3124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Tips</a:t>
            </a:r>
            <a:endParaRPr/>
          </a:p>
        </p:txBody>
      </p:sp>
      <p:sp>
        <p:nvSpPr>
          <p:cNvPr id="359" name="Google Shape;359;p19"/>
          <p:cNvSpPr txBox="1"/>
          <p:nvPr/>
        </p:nvSpPr>
        <p:spPr>
          <a:xfrm>
            <a:off x="390732" y="6370625"/>
            <a:ext cx="60156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use “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++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and “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to update a value with +/- 1 easily.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"/>
          <p:cNvSpPr/>
          <p:nvPr/>
        </p:nvSpPr>
        <p:spPr>
          <a:xfrm>
            <a:off x="150718" y="348876"/>
            <a:ext cx="306492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Operators and Expressions</a:t>
            </a:r>
            <a:endParaRPr/>
          </a:p>
        </p:txBody>
      </p:sp>
      <p:graphicFrame>
        <p:nvGraphicFramePr>
          <p:cNvPr id="365" name="Google Shape;365;p20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Operators and Expressions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Master the symbols that let you perform calculations and comparisons. Understand how C evaluates expressions.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366" name="Google Shape;366;p20"/>
          <p:cNvSpPr/>
          <p:nvPr/>
        </p:nvSpPr>
        <p:spPr>
          <a:xfrm>
            <a:off x="3581446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Assignment 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3215640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scadia Cod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pic>
        <p:nvPicPr>
          <p:cNvPr id="368" name="Google Shape;368;p20"/>
          <p:cNvPicPr preferRelativeResize="0"/>
          <p:nvPr/>
        </p:nvPicPr>
        <p:blipFill rotWithShape="1">
          <a:blip r:embed="rId3">
            <a:alphaModFix/>
          </a:blip>
          <a:srcRect b="0" l="0" r="0" t="24795"/>
          <a:stretch/>
        </p:blipFill>
        <p:spPr>
          <a:xfrm>
            <a:off x="3672606" y="2653337"/>
            <a:ext cx="8232552" cy="4013337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0"/>
          <p:cNvSpPr/>
          <p:nvPr/>
        </p:nvSpPr>
        <p:spPr>
          <a:xfrm>
            <a:off x="286842" y="2160017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Default 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3810000" y="2160017"/>
            <a:ext cx="7970520" cy="369332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Advanced 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283" y="2966387"/>
            <a:ext cx="2095792" cy="1362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/>
          <p:nvPr/>
        </p:nvSpPr>
        <p:spPr>
          <a:xfrm>
            <a:off x="150718" y="348876"/>
            <a:ext cx="306492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Operators and Expressions</a:t>
            </a:r>
            <a:endParaRPr/>
          </a:p>
        </p:txBody>
      </p:sp>
      <p:graphicFrame>
        <p:nvGraphicFramePr>
          <p:cNvPr id="377" name="Google Shape;377;p21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Operators and Expressions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Master the symbols that let you perform calculations and comparisons. Understand how C evaluates expressions.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378" name="Google Shape;378;p21"/>
          <p:cNvSpPr/>
          <p:nvPr/>
        </p:nvSpPr>
        <p:spPr>
          <a:xfrm>
            <a:off x="3581446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Logical operators / Comparison 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3215640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scadia Cod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pic>
        <p:nvPicPr>
          <p:cNvPr id="380" name="Google Shape;3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4527" y="1737360"/>
            <a:ext cx="8682946" cy="4183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2"/>
          <p:cNvSpPr/>
          <p:nvPr/>
        </p:nvSpPr>
        <p:spPr>
          <a:xfrm>
            <a:off x="150718" y="348876"/>
            <a:ext cx="306492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Operators and Expressions</a:t>
            </a:r>
            <a:endParaRPr/>
          </a:p>
        </p:txBody>
      </p:sp>
      <p:graphicFrame>
        <p:nvGraphicFramePr>
          <p:cNvPr id="386" name="Google Shape;386;p22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Operators and Expressions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Master the symbols that let you perform calculations and comparisons. Understand how C evaluates expressions.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387" name="Google Shape;387;p22"/>
          <p:cNvSpPr/>
          <p:nvPr/>
        </p:nvSpPr>
        <p:spPr>
          <a:xfrm>
            <a:off x="3581446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Precedence and associativity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2"/>
          <p:cNvSpPr txBox="1"/>
          <p:nvPr/>
        </p:nvSpPr>
        <p:spPr>
          <a:xfrm>
            <a:off x="3215640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scadia Cod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pic>
        <p:nvPicPr>
          <p:cNvPr id="389" name="Google Shape;3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9460" y="980170"/>
            <a:ext cx="5700248" cy="5649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"/>
          <p:cNvSpPr/>
          <p:nvPr/>
        </p:nvSpPr>
        <p:spPr>
          <a:xfrm>
            <a:off x="150718" y="348876"/>
            <a:ext cx="306492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Input and Output (I/O) Basics</a:t>
            </a:r>
            <a:endParaRPr/>
          </a:p>
        </p:txBody>
      </p:sp>
      <p:graphicFrame>
        <p:nvGraphicFramePr>
          <p:cNvPr id="395" name="Google Shape;395;p23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TPE-004-4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Input and Output (I/O) Basics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Use the standard input/output functions to interact with users. Learn how to display results and read user input.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396" name="Google Shape;396;p23"/>
          <p:cNvSpPr/>
          <p:nvPr/>
        </p:nvSpPr>
        <p:spPr>
          <a:xfrm>
            <a:off x="3581446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printf()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3"/>
          <p:cNvSpPr txBox="1"/>
          <p:nvPr/>
        </p:nvSpPr>
        <p:spPr>
          <a:xfrm>
            <a:off x="3215640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scadia Cod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pic>
        <p:nvPicPr>
          <p:cNvPr id="398" name="Google Shape;3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1284" y="1255197"/>
            <a:ext cx="8609788" cy="4843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"/>
          <p:cNvSpPr/>
          <p:nvPr/>
        </p:nvSpPr>
        <p:spPr>
          <a:xfrm>
            <a:off x="150718" y="348876"/>
            <a:ext cx="306492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Input and Output (I/O) Basics</a:t>
            </a:r>
            <a:endParaRPr/>
          </a:p>
        </p:txBody>
      </p:sp>
      <p:graphicFrame>
        <p:nvGraphicFramePr>
          <p:cNvPr id="404" name="Google Shape;404;p24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TPE-004-4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Input and Output (I/O) Basics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Use the standard input/output functions to interact with users. Learn how to display results and read user input.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405" name="Google Shape;405;p24"/>
          <p:cNvSpPr/>
          <p:nvPr/>
        </p:nvSpPr>
        <p:spPr>
          <a:xfrm>
            <a:off x="3581446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printf()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4"/>
          <p:cNvSpPr txBox="1"/>
          <p:nvPr/>
        </p:nvSpPr>
        <p:spPr>
          <a:xfrm>
            <a:off x="3215640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scadia Cod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pic>
        <p:nvPicPr>
          <p:cNvPr id="407" name="Google Shape;4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684" y="1024743"/>
            <a:ext cx="9576632" cy="5484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5"/>
          <p:cNvSpPr/>
          <p:nvPr/>
        </p:nvSpPr>
        <p:spPr>
          <a:xfrm>
            <a:off x="150718" y="348876"/>
            <a:ext cx="306492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Input and Output (I/O) Basics</a:t>
            </a:r>
            <a:endParaRPr/>
          </a:p>
        </p:txBody>
      </p:sp>
      <p:graphicFrame>
        <p:nvGraphicFramePr>
          <p:cNvPr id="413" name="Google Shape;413;p25"/>
          <p:cNvGraphicFramePr/>
          <p:nvPr/>
        </p:nvGraphicFramePr>
        <p:xfrm>
          <a:off x="6972300" y="6922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{DBC82B6F-2235-4462-94E4-35C72BBDDD54}</a:tableStyleId>
              </a:tblPr>
              <a:tblGrid>
                <a:gridCol w="891050"/>
                <a:gridCol w="4247775"/>
              </a:tblGrid>
              <a:tr h="16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TPE-004-4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 Input and Output (I/O) Basics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3286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Use the standard input/output functions to interact with users. Learn how to display results and read user input.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414" name="Google Shape;414;p25"/>
          <p:cNvSpPr/>
          <p:nvPr/>
        </p:nvSpPr>
        <p:spPr>
          <a:xfrm>
            <a:off x="3581446" y="348875"/>
            <a:ext cx="2814732" cy="36933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scanf()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5"/>
          <p:cNvSpPr txBox="1"/>
          <p:nvPr/>
        </p:nvSpPr>
        <p:spPr>
          <a:xfrm>
            <a:off x="3215640" y="302709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scadia Cod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scadia Code"/>
                <a:ea typeface="Cascadia Code"/>
                <a:cs typeface="Cascadia Code"/>
                <a:sym typeface="Cascadia Code"/>
              </a:rPr>
              <a:t>&gt;</a:t>
            </a:r>
            <a:endParaRPr/>
          </a:p>
        </p:txBody>
      </p:sp>
      <p:pic>
        <p:nvPicPr>
          <p:cNvPr descr="scanf function in c -introduction | getchar() function" id="416" name="Google Shape;4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544717"/>
            <a:ext cx="9906000" cy="4720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2025-10-15T02:49:01Z</dcterms:created>
  <dc:creator>VANDAMME Simon</dc:creator>
</cp:coreProperties>
</file>